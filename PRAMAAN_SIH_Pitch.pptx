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strong. 'Good morning. On the Government e-Marketplace, every single bid has to be checked against more than ten government systems — by hand. We built PRAMAAN, which means proof. It reads the documents, checks the registries, catches forged certificates, and gives the officer a clear, explained verdict — but the officer always makes the final call.' Tip: replace this line with your team name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pain simply. 'Imagine you are the officer. For one tender you might get dozens or hundreds of bidders. For each one you open ten different government websites, check numbers, match names, and confirm they aren't blacklisted. It takes hours, it's easy to make a mistake, and if someone hands you a nicely forged certificate, you probably can't tell.' Keep it human — the judges should feel the officer's workload.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the stakes. 'This isn't just paperwork. If a check is missed, public money can go to a fake or blacklisted company, an ineligible bidder can beat honest MSMEs, and later nobody can prove why the decision was made. Fairness, legality, and a clean audit trail all depend on this one step being done right — every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solution in one breath, then the promise line. 'PRAMAAN does the whole check in one pass — it reads the documents, verifies them against the registries, catches forgeries, scores the bidder and explains the result. But notice the golden rule at the bottom: the AI only recommends. A human officer always makes the final decision.' The three cards are your headline benefits — automate, catch fraud, explain.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flow is simple: read the documents, check each government registry, then cross-verify that everything agrees. We calculate a score and risk level, produce a recommendation, the officer decides — step six, in green, is the human — and every action is written to a tamper-proof audit log.' Emphasise the bottom line: every step keeps its evidence, so the whole thing is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breadth, then depth. 'These are the twelve checks. Most cover eligibility — MSME, GST, PAN, company registration, Make-in-India, labour registrations, startup and NSIC status, OEM letters. The two highlighted ones — document integrity and the blacklist — are where fraud actually hides, and they're what most tools skip.' Note the tender-aware line: we only run relevant checks.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concrete. 'Step one is just reading. The bidder uploads their PDFs and the system pulls out the important fields automatically — like the panel on the right. That means the officer never re-types data, and every value is tied back to where it appeared in the document.' Mention it works offline on normal PDFs, with OCR available for scans.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brain. 'A genuine company says the same thing on every document. So we cross-check names across PAN, GST, Udyam and MCA, and we use a neat trick: the PAN is actually embedded inside the GST number, so we can confirm they match — like the green example. If something conflicts, we raise a flag.' End on the key selling point: every flag carries its evidence, so it's fully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feature naive teams never build. 'One front company is easy to make look clean, so fraudsters split into several ‘independent’ bidders on the same tender to rig it. PRAMAAN compares every bidder and links any that share a PAN, GST, bank account, phone, address or signatory. In our demo, QuickSpares and FrontRunner each score in the nineties on their own — but they share a bank account and a signatory, so the system flags them as a collusion cluster.' Show the Cross-bidder Integrity panel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differentiator — slow down here. 'Anyone can validate an ID number. Almost nobody catches a forged certificate. We do two things: first, we cryptographically verify the document was really signed by the issuer and hasn't changed since. Second, we detect tampering — if someone re-saved the file after signing, changed the date, or used a forging tool, we see the fingerprints.' Land the red line: this is the gap fraud lives 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and accountability. 'Every important action — an upload, an assessment, an officer decision — is written into a log where each entry is cryptographically linked to the previous one. If anyone tampers with the history, even one row, the chain breaks and we can point to exactly where. So the record is provably honest.' This matters enormously for government audits and disputes.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Flexibility sells to government. 'Rules change — a new tender, a policy update. In most software that means calling a developer. Here, the thresholds live in a simple settings file an admin can edit, like the panel on the right. So one platform adapts to any tender and any ministry without touching the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it together. 'The output an officer sees: a score out of 100, a Low/Medium/High risk, and one of three recommendations — qualify, needs review, or disqualify — always with the reasons attached. And importantly, a serious problem like a forged document or a blacklist hit automatically caps the score, so a fraudster can't rack up points elsewhere to look clean.'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the fear of AI head-on. 'Judges will ask: are you letting a machine reject suppliers? No. PRAMAAN only recommends. The officer decides, must type a justification, and if they disagree with the AI that override is flagged and logged. Automation does the heavy lifting; a human stays accountable.' This is a strength, not a limitation — say it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slide — demo it live if you can. 'Seven bidders, one tender. CleanCorp and Southern Pumps are fully compliant and qualify in the nineties. Kaveri and Borderline have real but fixable problems — unsigned scans, unfiled GST returns, a name mismatch — so they go to review, not rejection. FraudFillers is caught cold: a forged certificate, a blacklist hit, a cancelled GST number and an inflated Make-in-India claim — score 25, disqualify. And the clever one: QuickSpares and FrontRunner each look clean alone, but the system links them as a collusion cluster because they share a bank account and a signatory.' Open FraudFillers to show the tamper reasons, then the Cross-bidder Integrity panel.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technical judges. 'The system is cleanly layered. The key design decision is the integration layer in amber: every government lookup goes through one adapter. Today it's backed by mock data; to go live you swap in the real APISetu, GST and DigiLocker adapters — without touching the checks, scoring, or UI.' Mention the bottom ribbon: real stack, Dockerised, 44 tests — it actually runs.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winner. 'Two things judges love. One: this runs with no internet and no paid key, so our demo can't fail because the wifi dropped. Two: because the AI can run entirely on-premise, sensitive bidder data never has to leave a government machine — a real data-sovereignty advantage.'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 the obvious question. 'You'll ask: are you really talking to the government systems? Not yet — those APIs need formal onboarding and the problem statement allows dummy data. But we built the seam for it: every lookup goes through one adapter, and the real APISetu, GST and DigiLocker versions are written as documented stubs. Going live is wiring, not redesign.' Being candid here reads as maturity.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against everything. 'Compared to manual work, we're an order of magnitude faster and never skip a step. Compared to commercial KYC tools, we're built for GeM's actual rules — Make-in-India, forgery, audit — not just identity lookups. And compared to a typical hackathon project, we went deep on the hard parts: real cryptography, real forgery detection, a tamper-proof audit trail, offline, and explainable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value story and show ambition. 'The impact: checks drop from hours to minutes, fraud is caught before the contract is awarded, every decision is auditable, and the same platform serves any ministry by changing settings. What's next: detecting collusion between bidders, wiring the live government APIs, deeper Make-in-India maths, and a one-click signed report for officers.'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it and stop. 'To sum up: PRAMAAN turns a slow, error-prone manual check into a fast, fraud-resistant, fully auditable one — while keeping a human accountable for every decision. Proof, not guesswork. Thank you — we'd love your questions.' Then be quiet and invite questions. Remember to put your team name on the title and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554480"/>
            <a:ext cx="5120640" cy="5120640"/>
          </a:xfrm>
          <a:prstGeom prst="ellipse">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66960" y="3291840"/>
            <a:ext cx="3840480" cy="3840480"/>
          </a:xfrm>
          <a:prstGeom prst="ellipse">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4572000"/>
            <a:ext cx="822960" cy="822960"/>
          </a:xfrm>
          <a:prstGeom prst="ellipse">
            <a:avLst/>
          </a:prstGeom>
          <a:solidFill>
            <a:srgbClr val="0E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51560"/>
            <a:ext cx="10058400" cy="292608"/>
          </a:xfrm>
          <a:prstGeom prst="rect">
            <a:avLst/>
          </a:prstGeom>
          <a:noFill/>
        </p:spPr>
        <p:txBody>
          <a:bodyPr wrap="square" anchor="t" lIns="0" rIns="0" tIns="0" bIns="0">
            <a:spAutoFit/>
          </a:bodyPr>
          <a:lstStyle/>
          <a:p>
            <a:pPr algn="l"/>
            <a:r>
              <a:rPr sz="1250" b="1" i="0">
                <a:solidFill>
                  <a:srgbClr val="31C8D6"/>
                </a:solidFill>
                <a:latin typeface="Arial"/>
              </a:rPr>
              <a:t>SMART INDIA HACKATHON 2026  ·  MINISTRY OF PETROLEUM &amp; NATURAL GAS / CPCL</a:t>
            </a:r>
          </a:p>
        </p:txBody>
      </p:sp>
      <p:sp>
        <p:nvSpPr>
          <p:cNvPr id="7" name="TextBox 6"/>
          <p:cNvSpPr txBox="1"/>
          <p:nvPr/>
        </p:nvSpPr>
        <p:spPr>
          <a:xfrm>
            <a:off x="786384" y="1783080"/>
            <a:ext cx="8595360" cy="2194560"/>
          </a:xfrm>
          <a:prstGeom prst="rect">
            <a:avLst/>
          </a:prstGeom>
          <a:noFill/>
        </p:spPr>
        <p:txBody>
          <a:bodyPr wrap="square" anchor="t" lIns="0" rIns="0" tIns="0" bIns="0">
            <a:spAutoFit/>
          </a:bodyPr>
          <a:lstStyle/>
          <a:p>
            <a:pPr algn="l">
              <a:lnSpc>
                <a:spcPct val="95000"/>
              </a:lnSpc>
            </a:pPr>
            <a:r>
              <a:rPr sz="8200" b="1" i="0">
                <a:solidFill>
                  <a:srgbClr val="EAF0FF"/>
                </a:solidFill>
                <a:latin typeface="Arial"/>
              </a:rPr>
              <a:t>PRAMAAN</a:t>
            </a:r>
          </a:p>
        </p:txBody>
      </p:sp>
      <p:sp>
        <p:nvSpPr>
          <p:cNvPr id="8" name="TextBox 7"/>
          <p:cNvSpPr txBox="1"/>
          <p:nvPr/>
        </p:nvSpPr>
        <p:spPr>
          <a:xfrm>
            <a:off x="822960" y="3063240"/>
            <a:ext cx="7955279" cy="457200"/>
          </a:xfrm>
          <a:prstGeom prst="rect">
            <a:avLst/>
          </a:prstGeom>
          <a:noFill/>
        </p:spPr>
        <p:txBody>
          <a:bodyPr wrap="square" anchor="t" lIns="0" rIns="0" tIns="0" bIns="0">
            <a:spAutoFit/>
          </a:bodyPr>
          <a:lstStyle/>
          <a:p>
            <a:pPr algn="l"/>
            <a:r>
              <a:rPr sz="2300" b="1" i="1">
                <a:solidFill>
                  <a:srgbClr val="31C8D6"/>
                </a:solidFill>
                <a:latin typeface="Arial"/>
              </a:rPr>
              <a:t>Proof, not guesswork.</a:t>
            </a:r>
          </a:p>
        </p:txBody>
      </p:sp>
      <p:sp>
        <p:nvSpPr>
          <p:cNvPr id="9" name="TextBox 8"/>
          <p:cNvSpPr txBox="1"/>
          <p:nvPr/>
        </p:nvSpPr>
        <p:spPr>
          <a:xfrm>
            <a:off x="822960" y="3794760"/>
            <a:ext cx="8503920" cy="914400"/>
          </a:xfrm>
          <a:prstGeom prst="rect">
            <a:avLst/>
          </a:prstGeom>
          <a:noFill/>
        </p:spPr>
        <p:txBody>
          <a:bodyPr wrap="square" anchor="t" lIns="0" rIns="0" tIns="0" bIns="0">
            <a:spAutoFit/>
          </a:bodyPr>
          <a:lstStyle/>
          <a:p>
            <a:pPr algn="l">
              <a:lnSpc>
                <a:spcPct val="115000"/>
              </a:lnSpc>
            </a:pPr>
            <a:r>
              <a:rPr sz="1700" b="0" i="0">
                <a:solidFill>
                  <a:srgbClr val="EAF0FF"/>
                </a:solidFill>
                <a:latin typeface="Arial"/>
              </a:rPr>
              <a:t>AI-powered integrated bid-compliance verification for GeM procurement — </a:t>
            </a:r>
            <a:r>
              <a:rPr sz="1700" b="0" i="0">
                <a:solidFill>
                  <a:srgbClr val="EAF0FF"/>
                </a:solidFill>
                <a:latin typeface="Arial"/>
              </a:rPr>
              <a:t>it reads every document, checks every registry, catches forgeries, and explains every verdict.</a:t>
            </a:r>
          </a:p>
        </p:txBody>
      </p:sp>
      <p:sp>
        <p:nvSpPr>
          <p:cNvPr id="10" name="Rounded Rectangle 9"/>
          <p:cNvSpPr/>
          <p:nvPr/>
        </p:nvSpPr>
        <p:spPr>
          <a:xfrm>
            <a:off x="822960" y="5029200"/>
            <a:ext cx="6309360" cy="65836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97280" y="5285232"/>
            <a:ext cx="146304" cy="146304"/>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5056632"/>
            <a:ext cx="5577840" cy="603504"/>
          </a:xfrm>
          <a:prstGeom prst="rect">
            <a:avLst/>
          </a:prstGeom>
          <a:noFill/>
        </p:spPr>
        <p:txBody>
          <a:bodyPr wrap="square" anchor="ctr" lIns="0" rIns="0" tIns="0" bIns="0">
            <a:spAutoFit/>
          </a:bodyPr>
          <a:lstStyle/>
          <a:p>
            <a:pPr algn="l"/>
            <a:r>
              <a:rPr sz="1500" b="1" i="0">
                <a:solidFill>
                  <a:srgbClr val="EAF0FF"/>
                </a:solidFill>
                <a:latin typeface="Arial"/>
              </a:rPr>
              <a:t>The AI recommends.  </a:t>
            </a:r>
            <a:r>
              <a:rPr sz="1500" b="1" i="0">
                <a:solidFill>
                  <a:srgbClr val="31C8D6"/>
                </a:solidFill>
                <a:latin typeface="Arial"/>
              </a:rPr>
              <a:t>The officer decides.</a:t>
            </a:r>
          </a:p>
        </p:txBody>
      </p:sp>
      <p:sp>
        <p:nvSpPr>
          <p:cNvPr id="13" name="TextBox 12"/>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Problem statement: AI-Powered Integrated Bid Compliance Verification Platform for GeM Procurement  ·  Software · Smart Automation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THE PROBLEM</a:t>
            </a:r>
          </a:p>
        </p:txBody>
      </p:sp>
      <p:sp>
        <p:nvSpPr>
          <p:cNvPr id="4" name="TextBox 3"/>
          <p:cNvSpPr txBox="1"/>
          <p:nvPr/>
        </p:nvSpPr>
        <p:spPr>
          <a:xfrm>
            <a:off x="640080" y="914400"/>
            <a:ext cx="1097280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Every bid is checked by hand — against 10+ government systems</a:t>
            </a:r>
          </a:p>
        </p:txBody>
      </p:sp>
      <p:sp>
        <p:nvSpPr>
          <p:cNvPr id="5" name="TextBox 4"/>
          <p:cNvSpPr txBox="1"/>
          <p:nvPr/>
        </p:nvSpPr>
        <p:spPr>
          <a:xfrm>
            <a:off x="640080" y="1965960"/>
            <a:ext cx="5669280" cy="3291840"/>
          </a:xfrm>
          <a:prstGeom prst="rect">
            <a:avLst/>
          </a:prstGeom>
          <a:noFill/>
        </p:spPr>
        <p:txBody>
          <a:bodyPr wrap="square" anchor="t" lIns="0" rIns="0" tIns="0" bIns="0">
            <a:spAutoFit/>
          </a:bodyPr>
          <a:lstStyle/>
          <a:p>
            <a:pPr algn="l">
              <a:lnSpc>
                <a:spcPct val="118000"/>
              </a:lnSpc>
              <a:spcAft>
                <a:spcPts val="200"/>
              </a:spcAft>
            </a:pPr>
            <a:r>
              <a:rPr sz="1550" b="0" i="0">
                <a:solidFill>
                  <a:srgbClr val="EAF0FF"/>
                </a:solidFill>
                <a:latin typeface="Arial"/>
              </a:rPr>
              <a:t>For each bidder, on every tender, a procurement officer must confirm the company is genuine and eligible:</a:t>
            </a:r>
          </a:p>
          <a:p>
            <a:pPr algn="l">
              <a:lnSpc>
                <a:spcPct val="118000"/>
              </a:lnSpc>
              <a:spcAft>
                <a:spcPts val="200"/>
              </a:spcAft>
            </a:pPr>
            <a:r>
              <a:rPr sz="600" b="0" i="0">
                <a:solidFill>
                  <a:srgbClr val="EAF0FF"/>
                </a:solidFill>
                <a:latin typeface="Arial"/>
              </a:rPr>
              <a:t/>
            </a:r>
          </a:p>
          <a:p>
            <a:pPr algn="l">
              <a:lnSpc>
                <a:spcPct val="118000"/>
              </a:lnSpc>
              <a:spcAft>
                <a:spcPts val="200"/>
              </a:spcAft>
            </a:pPr>
            <a:r>
              <a:rPr sz="1450" b="0" i="0">
                <a:solidFill>
                  <a:srgbClr val="93A1C0"/>
                </a:solidFill>
                <a:latin typeface="Arial"/>
              </a:rPr>
              <a:t>Udyam / MSME status · GST registration and whether returns are filed · PAN · company registration (MCA) · Make-in-India local content · EPFO &amp; ESIC · Startup India · NSIC · OEM authorization · DigiLocker documents · and the debarment blacklist.</a:t>
            </a:r>
          </a:p>
          <a:p>
            <a:pPr algn="l">
              <a:lnSpc>
                <a:spcPct val="118000"/>
              </a:lnSpc>
              <a:spcAft>
                <a:spcPts val="200"/>
              </a:spcAft>
            </a:pPr>
            <a:r>
              <a:rPr sz="600" b="0" i="0">
                <a:solidFill>
                  <a:srgbClr val="EAF0FF"/>
                </a:solidFill>
                <a:latin typeface="Arial"/>
              </a:rPr>
              <a:t/>
            </a:r>
          </a:p>
          <a:p>
            <a:pPr algn="l">
              <a:lnSpc>
                <a:spcPct val="118000"/>
              </a:lnSpc>
              <a:spcAft>
                <a:spcPts val="200"/>
              </a:spcAft>
            </a:pPr>
            <a:r>
              <a:rPr sz="1550" b="1" i="0">
                <a:solidFill>
                  <a:srgbClr val="EAF0FF"/>
                </a:solidFill>
                <a:latin typeface="Arial"/>
              </a:rPr>
              <a:t>It is slow, tiring, and inconsistent — and a convincing fake document can slip straight through.</a:t>
            </a:r>
          </a:p>
        </p:txBody>
      </p:sp>
      <p:sp>
        <p:nvSpPr>
          <p:cNvPr id="6" name="Rounded Rectangle 5"/>
          <p:cNvSpPr/>
          <p:nvPr/>
        </p:nvSpPr>
        <p:spPr>
          <a:xfrm>
            <a:off x="6629400" y="1965960"/>
            <a:ext cx="2606040" cy="148132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85432" y="2148840"/>
            <a:ext cx="2148840" cy="640080"/>
          </a:xfrm>
          <a:prstGeom prst="rect">
            <a:avLst/>
          </a:prstGeom>
          <a:noFill/>
        </p:spPr>
        <p:txBody>
          <a:bodyPr wrap="square" anchor="t" lIns="0" rIns="0" tIns="0" bIns="0">
            <a:spAutoFit/>
          </a:bodyPr>
          <a:lstStyle/>
          <a:p>
            <a:pPr algn="l"/>
            <a:r>
              <a:rPr sz="3000" b="1" i="0">
                <a:solidFill>
                  <a:srgbClr val="31C8D6"/>
                </a:solidFill>
                <a:latin typeface="Arial"/>
              </a:rPr>
              <a:t>10+</a:t>
            </a:r>
          </a:p>
        </p:txBody>
      </p:sp>
      <p:sp>
        <p:nvSpPr>
          <p:cNvPr id="8" name="TextBox 7"/>
          <p:cNvSpPr txBox="1"/>
          <p:nvPr/>
        </p:nvSpPr>
        <p:spPr>
          <a:xfrm>
            <a:off x="6885432" y="2752344"/>
            <a:ext cx="2148840" cy="640080"/>
          </a:xfrm>
          <a:prstGeom prst="rect">
            <a:avLst/>
          </a:prstGeom>
          <a:noFill/>
        </p:spPr>
        <p:txBody>
          <a:bodyPr wrap="square" anchor="t" lIns="0" rIns="0" tIns="0" bIns="0">
            <a:spAutoFit/>
          </a:bodyPr>
          <a:lstStyle/>
          <a:p>
            <a:pPr algn="l">
              <a:lnSpc>
                <a:spcPct val="105000"/>
              </a:lnSpc>
            </a:pPr>
            <a:r>
              <a:rPr sz="1200" b="0" i="0">
                <a:solidFill>
                  <a:srgbClr val="93A1C0"/>
                </a:solidFill>
                <a:latin typeface="Arial"/>
              </a:rPr>
              <a:t>registries to check
per bidder</a:t>
            </a:r>
          </a:p>
        </p:txBody>
      </p:sp>
      <p:sp>
        <p:nvSpPr>
          <p:cNvPr id="9" name="Rounded Rectangle 8"/>
          <p:cNvSpPr/>
          <p:nvPr/>
        </p:nvSpPr>
        <p:spPr>
          <a:xfrm>
            <a:off x="9491472" y="1965960"/>
            <a:ext cx="2606040" cy="148132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47503" y="2148840"/>
            <a:ext cx="2148840" cy="640080"/>
          </a:xfrm>
          <a:prstGeom prst="rect">
            <a:avLst/>
          </a:prstGeom>
          <a:noFill/>
        </p:spPr>
        <p:txBody>
          <a:bodyPr wrap="square" anchor="t" lIns="0" rIns="0" tIns="0" bIns="0">
            <a:spAutoFit/>
          </a:bodyPr>
          <a:lstStyle/>
          <a:p>
            <a:pPr algn="l"/>
            <a:r>
              <a:rPr sz="3000" b="1" i="0">
                <a:solidFill>
                  <a:srgbClr val="31C8D6"/>
                </a:solidFill>
                <a:latin typeface="Arial"/>
              </a:rPr>
              <a:t>100s</a:t>
            </a:r>
          </a:p>
        </p:txBody>
      </p:sp>
      <p:sp>
        <p:nvSpPr>
          <p:cNvPr id="11" name="TextBox 10"/>
          <p:cNvSpPr txBox="1"/>
          <p:nvPr/>
        </p:nvSpPr>
        <p:spPr>
          <a:xfrm>
            <a:off x="9747503" y="2752344"/>
            <a:ext cx="2148840" cy="640080"/>
          </a:xfrm>
          <a:prstGeom prst="rect">
            <a:avLst/>
          </a:prstGeom>
          <a:noFill/>
        </p:spPr>
        <p:txBody>
          <a:bodyPr wrap="square" anchor="t" lIns="0" rIns="0" tIns="0" bIns="0">
            <a:spAutoFit/>
          </a:bodyPr>
          <a:lstStyle/>
          <a:p>
            <a:pPr algn="l">
              <a:lnSpc>
                <a:spcPct val="105000"/>
              </a:lnSpc>
            </a:pPr>
            <a:r>
              <a:rPr sz="1200" b="0" i="0">
                <a:solidFill>
                  <a:srgbClr val="93A1C0"/>
                </a:solidFill>
                <a:latin typeface="Arial"/>
              </a:rPr>
              <a:t>bidders on a
single large tender</a:t>
            </a:r>
          </a:p>
        </p:txBody>
      </p:sp>
      <p:sp>
        <p:nvSpPr>
          <p:cNvPr id="12" name="Rounded Rectangle 11"/>
          <p:cNvSpPr/>
          <p:nvPr/>
        </p:nvSpPr>
        <p:spPr>
          <a:xfrm>
            <a:off x="6629400" y="3703320"/>
            <a:ext cx="2606040" cy="148132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5432" y="3886200"/>
            <a:ext cx="2148840" cy="640080"/>
          </a:xfrm>
          <a:prstGeom prst="rect">
            <a:avLst/>
          </a:prstGeom>
          <a:noFill/>
        </p:spPr>
        <p:txBody>
          <a:bodyPr wrap="square" anchor="t" lIns="0" rIns="0" tIns="0" bIns="0">
            <a:spAutoFit/>
          </a:bodyPr>
          <a:lstStyle/>
          <a:p>
            <a:pPr algn="l"/>
            <a:r>
              <a:rPr sz="3000" b="1" i="0">
                <a:solidFill>
                  <a:srgbClr val="FBBF24"/>
                </a:solidFill>
                <a:latin typeface="Arial"/>
              </a:rPr>
              <a:t>Manual</a:t>
            </a:r>
          </a:p>
        </p:txBody>
      </p:sp>
      <p:sp>
        <p:nvSpPr>
          <p:cNvPr id="14" name="TextBox 13"/>
          <p:cNvSpPr txBox="1"/>
          <p:nvPr/>
        </p:nvSpPr>
        <p:spPr>
          <a:xfrm>
            <a:off x="6885432" y="4489704"/>
            <a:ext cx="2148840" cy="640080"/>
          </a:xfrm>
          <a:prstGeom prst="rect">
            <a:avLst/>
          </a:prstGeom>
          <a:noFill/>
        </p:spPr>
        <p:txBody>
          <a:bodyPr wrap="square" anchor="t" lIns="0" rIns="0" tIns="0" bIns="0">
            <a:spAutoFit/>
          </a:bodyPr>
          <a:lstStyle/>
          <a:p>
            <a:pPr algn="l">
              <a:lnSpc>
                <a:spcPct val="105000"/>
              </a:lnSpc>
            </a:pPr>
            <a:r>
              <a:rPr sz="1200" b="0" i="0">
                <a:solidFill>
                  <a:srgbClr val="93A1C0"/>
                </a:solidFill>
                <a:latin typeface="Arial"/>
              </a:rPr>
              <a:t>= slow, tiring,
inconsistent</a:t>
            </a:r>
          </a:p>
        </p:txBody>
      </p:sp>
      <p:sp>
        <p:nvSpPr>
          <p:cNvPr id="15" name="Rounded Rectangle 14"/>
          <p:cNvSpPr/>
          <p:nvPr/>
        </p:nvSpPr>
        <p:spPr>
          <a:xfrm>
            <a:off x="9491472" y="3703320"/>
            <a:ext cx="2606040" cy="148132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47503" y="3886200"/>
            <a:ext cx="2148840" cy="640080"/>
          </a:xfrm>
          <a:prstGeom prst="rect">
            <a:avLst/>
          </a:prstGeom>
          <a:noFill/>
        </p:spPr>
        <p:txBody>
          <a:bodyPr wrap="square" anchor="t" lIns="0" rIns="0" tIns="0" bIns="0">
            <a:spAutoFit/>
          </a:bodyPr>
          <a:lstStyle/>
          <a:p>
            <a:pPr algn="l"/>
            <a:r>
              <a:rPr sz="3000" b="1" i="0">
                <a:solidFill>
                  <a:srgbClr val="F87171"/>
                </a:solidFill>
                <a:latin typeface="Arial"/>
              </a:rPr>
              <a:t>Forgery</a:t>
            </a:r>
          </a:p>
        </p:txBody>
      </p:sp>
      <p:sp>
        <p:nvSpPr>
          <p:cNvPr id="17" name="TextBox 16"/>
          <p:cNvSpPr txBox="1"/>
          <p:nvPr/>
        </p:nvSpPr>
        <p:spPr>
          <a:xfrm>
            <a:off x="9747503" y="4489704"/>
            <a:ext cx="2148840" cy="640080"/>
          </a:xfrm>
          <a:prstGeom prst="rect">
            <a:avLst/>
          </a:prstGeom>
          <a:noFill/>
        </p:spPr>
        <p:txBody>
          <a:bodyPr wrap="square" anchor="t" lIns="0" rIns="0" tIns="0" bIns="0">
            <a:spAutoFit/>
          </a:bodyPr>
          <a:lstStyle/>
          <a:p>
            <a:pPr algn="l">
              <a:lnSpc>
                <a:spcPct val="105000"/>
              </a:lnSpc>
            </a:pPr>
            <a:r>
              <a:rPr sz="1200" b="0" i="0">
                <a:solidFill>
                  <a:srgbClr val="93A1C0"/>
                </a:solidFill>
                <a:latin typeface="Arial"/>
              </a:rPr>
              <a:t>fake PDFs can
pass unnoticed</a:t>
            </a:r>
          </a:p>
        </p:txBody>
      </p:sp>
      <p:sp>
        <p:nvSpPr>
          <p:cNvPr id="18" name="TextBox 17"/>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GeM · Government e-Marketplace — India's national public-procurement portal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WHY IT MATTERS</a:t>
            </a:r>
          </a:p>
        </p:txBody>
      </p:sp>
      <p:sp>
        <p:nvSpPr>
          <p:cNvPr id="4" name="TextBox 3"/>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A missed check can hand public money to the wrong bidder</a:t>
            </a:r>
          </a:p>
        </p:txBody>
      </p:sp>
      <p:sp>
        <p:nvSpPr>
          <p:cNvPr id="5" name="Rounded Rectangle 4"/>
          <p:cNvSpPr/>
          <p:nvPr/>
        </p:nvSpPr>
        <p:spPr>
          <a:xfrm>
            <a:off x="640080" y="2148840"/>
            <a:ext cx="3611880" cy="246888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2478024"/>
            <a:ext cx="310896" cy="3108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990088"/>
            <a:ext cx="3017520" cy="548640"/>
          </a:xfrm>
          <a:prstGeom prst="rect">
            <a:avLst/>
          </a:prstGeom>
          <a:noFill/>
        </p:spPr>
        <p:txBody>
          <a:bodyPr wrap="square" anchor="t" lIns="0" rIns="0" tIns="0" bIns="0">
            <a:spAutoFit/>
          </a:bodyPr>
          <a:lstStyle/>
          <a:p>
            <a:pPr algn="l"/>
            <a:r>
              <a:rPr sz="1900" b="1" i="0">
                <a:solidFill>
                  <a:srgbClr val="EAF0FF"/>
                </a:solidFill>
                <a:latin typeface="Arial"/>
              </a:rPr>
              <a:t>Fraud gets in</a:t>
            </a:r>
          </a:p>
        </p:txBody>
      </p:sp>
      <p:sp>
        <p:nvSpPr>
          <p:cNvPr id="8" name="TextBox 7"/>
          <p:cNvSpPr txBox="1"/>
          <p:nvPr/>
        </p:nvSpPr>
        <p:spPr>
          <a:xfrm>
            <a:off x="950976" y="3520440"/>
            <a:ext cx="3017520" cy="914400"/>
          </a:xfrm>
          <a:prstGeom prst="rect">
            <a:avLst/>
          </a:prstGeom>
          <a:noFill/>
        </p:spPr>
        <p:txBody>
          <a:bodyPr wrap="square" anchor="t" lIns="0" rIns="0" tIns="0" bIns="0">
            <a:spAutoFit/>
          </a:bodyPr>
          <a:lstStyle/>
          <a:p>
            <a:pPr algn="l">
              <a:lnSpc>
                <a:spcPct val="120000"/>
              </a:lnSpc>
            </a:pPr>
            <a:r>
              <a:rPr sz="1400" b="0" i="0">
                <a:solidFill>
                  <a:srgbClr val="93A1C0"/>
                </a:solidFill>
                <a:latin typeface="Arial"/>
              </a:rPr>
              <a:t>Fake or blacklisted vendors win real government contracts.</a:t>
            </a:r>
          </a:p>
        </p:txBody>
      </p:sp>
      <p:sp>
        <p:nvSpPr>
          <p:cNvPr id="9" name="Rounded Rectangle 8"/>
          <p:cNvSpPr/>
          <p:nvPr/>
        </p:nvSpPr>
        <p:spPr>
          <a:xfrm>
            <a:off x="4544568" y="2148840"/>
            <a:ext cx="3611880" cy="246888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55464" y="2478024"/>
            <a:ext cx="310896" cy="310896"/>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55464" y="2990088"/>
            <a:ext cx="3017520" cy="548640"/>
          </a:xfrm>
          <a:prstGeom prst="rect">
            <a:avLst/>
          </a:prstGeom>
          <a:noFill/>
        </p:spPr>
        <p:txBody>
          <a:bodyPr wrap="square" anchor="t" lIns="0" rIns="0" tIns="0" bIns="0">
            <a:spAutoFit/>
          </a:bodyPr>
          <a:lstStyle/>
          <a:p>
            <a:pPr algn="l"/>
            <a:r>
              <a:rPr sz="1900" b="1" i="0">
                <a:solidFill>
                  <a:srgbClr val="EAF0FF"/>
                </a:solidFill>
                <a:latin typeface="Arial"/>
              </a:rPr>
              <a:t>Wrong awards</a:t>
            </a:r>
          </a:p>
        </p:txBody>
      </p:sp>
      <p:sp>
        <p:nvSpPr>
          <p:cNvPr id="12" name="TextBox 11"/>
          <p:cNvSpPr txBox="1"/>
          <p:nvPr/>
        </p:nvSpPr>
        <p:spPr>
          <a:xfrm>
            <a:off x="4855464" y="3520440"/>
            <a:ext cx="3017520" cy="914400"/>
          </a:xfrm>
          <a:prstGeom prst="rect">
            <a:avLst/>
          </a:prstGeom>
          <a:noFill/>
        </p:spPr>
        <p:txBody>
          <a:bodyPr wrap="square" anchor="t" lIns="0" rIns="0" tIns="0" bIns="0">
            <a:spAutoFit/>
          </a:bodyPr>
          <a:lstStyle/>
          <a:p>
            <a:pPr algn="l">
              <a:lnSpc>
                <a:spcPct val="120000"/>
              </a:lnSpc>
            </a:pPr>
            <a:r>
              <a:rPr sz="1400" b="0" i="0">
                <a:solidFill>
                  <a:srgbClr val="93A1C0"/>
                </a:solidFill>
                <a:latin typeface="Arial"/>
              </a:rPr>
              <a:t>An ineligible bidder wins — and genuine MSMEs lose out.</a:t>
            </a:r>
          </a:p>
        </p:txBody>
      </p:sp>
      <p:sp>
        <p:nvSpPr>
          <p:cNvPr id="13" name="Rounded Rectangle 12"/>
          <p:cNvSpPr/>
          <p:nvPr/>
        </p:nvSpPr>
        <p:spPr>
          <a:xfrm>
            <a:off x="8449056" y="2148840"/>
            <a:ext cx="3611880" cy="246888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59952" y="2478024"/>
            <a:ext cx="310896" cy="310896"/>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9952" y="2990088"/>
            <a:ext cx="3017520" cy="548640"/>
          </a:xfrm>
          <a:prstGeom prst="rect">
            <a:avLst/>
          </a:prstGeom>
          <a:noFill/>
        </p:spPr>
        <p:txBody>
          <a:bodyPr wrap="square" anchor="t" lIns="0" rIns="0" tIns="0" bIns="0">
            <a:spAutoFit/>
          </a:bodyPr>
          <a:lstStyle/>
          <a:p>
            <a:pPr algn="l"/>
            <a:r>
              <a:rPr sz="1900" b="1" i="0">
                <a:solidFill>
                  <a:srgbClr val="EAF0FF"/>
                </a:solidFill>
                <a:latin typeface="Arial"/>
              </a:rPr>
              <a:t>No paper trail</a:t>
            </a:r>
          </a:p>
        </p:txBody>
      </p:sp>
      <p:sp>
        <p:nvSpPr>
          <p:cNvPr id="16" name="TextBox 15"/>
          <p:cNvSpPr txBox="1"/>
          <p:nvPr/>
        </p:nvSpPr>
        <p:spPr>
          <a:xfrm>
            <a:off x="8759952" y="3520440"/>
            <a:ext cx="3017520" cy="914400"/>
          </a:xfrm>
          <a:prstGeom prst="rect">
            <a:avLst/>
          </a:prstGeom>
          <a:noFill/>
        </p:spPr>
        <p:txBody>
          <a:bodyPr wrap="square" anchor="t" lIns="0" rIns="0" tIns="0" bIns="0">
            <a:spAutoFit/>
          </a:bodyPr>
          <a:lstStyle/>
          <a:p>
            <a:pPr algn="l">
              <a:lnSpc>
                <a:spcPct val="120000"/>
              </a:lnSpc>
            </a:pPr>
            <a:r>
              <a:rPr sz="1400" b="0" i="0">
                <a:solidFill>
                  <a:srgbClr val="93A1C0"/>
                </a:solidFill>
                <a:latin typeface="Arial"/>
              </a:rPr>
              <a:t>Hard to prove why a decision was made. That's an audit risk.</a:t>
            </a:r>
          </a:p>
        </p:txBody>
      </p:sp>
      <p:sp>
        <p:nvSpPr>
          <p:cNvPr id="17" name="TextBox 16"/>
          <p:cNvSpPr txBox="1"/>
          <p:nvPr/>
        </p:nvSpPr>
        <p:spPr>
          <a:xfrm>
            <a:off x="640080" y="5074920"/>
            <a:ext cx="10972800" cy="731520"/>
          </a:xfrm>
          <a:prstGeom prst="rect">
            <a:avLst/>
          </a:prstGeom>
          <a:noFill/>
        </p:spPr>
        <p:txBody>
          <a:bodyPr wrap="square" anchor="t" lIns="0" rIns="0" tIns="0" bIns="0">
            <a:spAutoFit/>
          </a:bodyPr>
          <a:lstStyle/>
          <a:p>
            <a:pPr algn="l">
              <a:lnSpc>
                <a:spcPct val="115000"/>
              </a:lnSpc>
            </a:pPr>
            <a:r>
              <a:rPr sz="1600" b="0" i="0">
                <a:solidFill>
                  <a:srgbClr val="EAF0FF"/>
                </a:solidFill>
                <a:latin typeface="Arial"/>
              </a:rPr>
              <a:t>Public procurement must be fair, lawful, and auditable — </a:t>
            </a:r>
            <a:r>
              <a:rPr sz="1600" b="1" i="0">
                <a:solidFill>
                  <a:srgbClr val="31C8D6"/>
                </a:solidFill>
                <a:latin typeface="Arial"/>
              </a:rPr>
              <a:t>the checking cannot be the weak link.</a:t>
            </a:r>
          </a:p>
        </p:txBody>
      </p:sp>
      <p:sp>
        <p:nvSpPr>
          <p:cNvPr id="18" name="TextBox 17"/>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Integrity in procurement protects public money and keeps the playing field fair for honest suppliers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4297680"/>
            <a:ext cx="4023360" cy="4023360"/>
          </a:xfrm>
          <a:prstGeom prst="ellipse">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58368"/>
            <a:ext cx="10058400" cy="292608"/>
          </a:xfrm>
          <a:prstGeom prst="rect">
            <a:avLst/>
          </a:prstGeom>
          <a:noFill/>
        </p:spPr>
        <p:txBody>
          <a:bodyPr wrap="square" anchor="t" lIns="0" rIns="0" tIns="0" bIns="0">
            <a:spAutoFit/>
          </a:bodyPr>
          <a:lstStyle/>
          <a:p>
            <a:pPr algn="l"/>
            <a:r>
              <a:rPr sz="1250" b="1" i="0">
                <a:solidFill>
                  <a:srgbClr val="31C8D6"/>
                </a:solidFill>
                <a:latin typeface="Arial"/>
              </a:rPr>
              <a:t>OUR SOLUTION — PRAMAAN</a:t>
            </a:r>
          </a:p>
        </p:txBody>
      </p:sp>
      <p:sp>
        <p:nvSpPr>
          <p:cNvPr id="5" name="TextBox 4"/>
          <p:cNvSpPr txBox="1"/>
          <p:nvPr/>
        </p:nvSpPr>
        <p:spPr>
          <a:xfrm>
            <a:off x="640080" y="1143000"/>
            <a:ext cx="10972800" cy="2103120"/>
          </a:xfrm>
          <a:prstGeom prst="rect">
            <a:avLst/>
          </a:prstGeom>
          <a:noFill/>
        </p:spPr>
        <p:txBody>
          <a:bodyPr wrap="square" anchor="t" lIns="0" rIns="0" tIns="0" bIns="0">
            <a:spAutoFit/>
          </a:bodyPr>
          <a:lstStyle/>
          <a:p>
            <a:pPr algn="l">
              <a:lnSpc>
                <a:spcPct val="110000"/>
              </a:lnSpc>
            </a:pPr>
            <a:r>
              <a:rPr sz="2700" b="1" i="0">
                <a:solidFill>
                  <a:srgbClr val="EAF0FF"/>
                </a:solidFill>
                <a:latin typeface="Arial"/>
              </a:rPr>
              <a:t>One platform that </a:t>
            </a:r>
            <a:r>
              <a:rPr sz="2700" b="1" i="0">
                <a:solidFill>
                  <a:srgbClr val="31C8D6"/>
                </a:solidFill>
                <a:latin typeface="Arial"/>
              </a:rPr>
              <a:t>reads</a:t>
            </a:r>
            <a:r>
              <a:rPr sz="2700" b="1" i="0">
                <a:solidFill>
                  <a:srgbClr val="EAF0FF"/>
                </a:solidFill>
                <a:latin typeface="Arial"/>
              </a:rPr>
              <a:t> every document, </a:t>
            </a:r>
            <a:r>
              <a:rPr sz="2700" b="1" i="0">
                <a:solidFill>
                  <a:srgbClr val="31C8D6"/>
                </a:solidFill>
                <a:latin typeface="Arial"/>
              </a:rPr>
              <a:t>checks</a:t>
            </a:r>
            <a:r>
              <a:rPr sz="2700" b="1" i="0">
                <a:solidFill>
                  <a:srgbClr val="EAF0FF"/>
                </a:solidFill>
                <a:latin typeface="Arial"/>
              </a:rPr>
              <a:t> every registry, </a:t>
            </a:r>
            <a:r>
              <a:rPr sz="2700" b="1" i="0">
                <a:solidFill>
                  <a:srgbClr val="31C8D6"/>
                </a:solidFill>
                <a:latin typeface="Arial"/>
              </a:rPr>
              <a:t>catches</a:t>
            </a:r>
            <a:r>
              <a:rPr sz="2700" b="1" i="0">
                <a:solidFill>
                  <a:srgbClr val="EAF0FF"/>
                </a:solidFill>
                <a:latin typeface="Arial"/>
              </a:rPr>
              <a:t> forgeries, </a:t>
            </a:r>
            <a:r>
              <a:rPr sz="2700" b="1" i="0">
                <a:solidFill>
                  <a:srgbClr val="31C8D6"/>
                </a:solidFill>
                <a:latin typeface="Arial"/>
              </a:rPr>
              <a:t>scores</a:t>
            </a:r>
            <a:r>
              <a:rPr sz="2700" b="1" i="0">
                <a:solidFill>
                  <a:srgbClr val="EAF0FF"/>
                </a:solidFill>
                <a:latin typeface="Arial"/>
              </a:rPr>
              <a:t> the bidder, and </a:t>
            </a:r>
            <a:r>
              <a:rPr sz="2700" b="1" i="0">
                <a:solidFill>
                  <a:srgbClr val="31C8D6"/>
                </a:solidFill>
                <a:latin typeface="Arial"/>
              </a:rPr>
              <a:t>explains</a:t>
            </a:r>
            <a:r>
              <a:rPr sz="2700" b="1" i="0">
                <a:solidFill>
                  <a:srgbClr val="EAF0FF"/>
                </a:solidFill>
                <a:latin typeface="Arial"/>
              </a:rPr>
              <a:t> the verdict.</a:t>
            </a:r>
          </a:p>
        </p:txBody>
      </p:sp>
      <p:sp>
        <p:nvSpPr>
          <p:cNvPr id="6" name="Rounded Rectangle 5"/>
          <p:cNvSpPr/>
          <p:nvPr/>
        </p:nvSpPr>
        <p:spPr>
          <a:xfrm>
            <a:off x="640080" y="3429000"/>
            <a:ext cx="6766560" cy="731520"/>
          </a:xfrm>
          <a:prstGeom prst="roundRect">
            <a:avLst>
              <a:gd name="adj" fmla="val 6000"/>
            </a:avLst>
          </a:prstGeom>
          <a:solidFill>
            <a:srgbClr val="0E2A30"/>
          </a:solidFill>
          <a:ln w="1587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456432"/>
            <a:ext cx="6400800" cy="676656"/>
          </a:xfrm>
          <a:prstGeom prst="rect">
            <a:avLst/>
          </a:prstGeom>
          <a:noFill/>
        </p:spPr>
        <p:txBody>
          <a:bodyPr wrap="square" anchor="ctr" lIns="0" rIns="0" tIns="0" bIns="0">
            <a:spAutoFit/>
          </a:bodyPr>
          <a:lstStyle/>
          <a:p>
            <a:pPr algn="l"/>
            <a:r>
              <a:rPr sz="1800" b="1" i="0">
                <a:solidFill>
                  <a:srgbClr val="EAF0FF"/>
                </a:solidFill>
                <a:latin typeface="Arial"/>
              </a:rPr>
              <a:t>The AI recommends.  </a:t>
            </a:r>
            <a:r>
              <a:rPr sz="1800" b="1" i="0">
                <a:solidFill>
                  <a:srgbClr val="31C8D6"/>
                </a:solidFill>
                <a:latin typeface="Arial"/>
              </a:rPr>
              <a:t>The officer decides.</a:t>
            </a:r>
          </a:p>
        </p:txBody>
      </p:sp>
      <p:sp>
        <p:nvSpPr>
          <p:cNvPr id="8" name="Rounded Rectangle 7"/>
          <p:cNvSpPr/>
          <p:nvPr/>
        </p:nvSpPr>
        <p:spPr>
          <a:xfrm>
            <a:off x="640080" y="4526280"/>
            <a:ext cx="3611880" cy="155448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4855464"/>
            <a:ext cx="137160" cy="13716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5093208"/>
            <a:ext cx="3063240" cy="457200"/>
          </a:xfrm>
          <a:prstGeom prst="rect">
            <a:avLst/>
          </a:prstGeom>
          <a:noFill/>
        </p:spPr>
        <p:txBody>
          <a:bodyPr wrap="square" anchor="t" lIns="0" rIns="0" tIns="0" bIns="0">
            <a:spAutoFit/>
          </a:bodyPr>
          <a:lstStyle/>
          <a:p>
            <a:pPr algn="l"/>
            <a:r>
              <a:rPr sz="1550" b="1" i="0">
                <a:solidFill>
                  <a:srgbClr val="EAF0FF"/>
                </a:solidFill>
                <a:latin typeface="Arial"/>
              </a:rPr>
              <a:t>Automates the boring</a:t>
            </a:r>
          </a:p>
        </p:txBody>
      </p:sp>
      <p:sp>
        <p:nvSpPr>
          <p:cNvPr id="11" name="TextBox 10"/>
          <p:cNvSpPr txBox="1"/>
          <p:nvPr/>
        </p:nvSpPr>
        <p:spPr>
          <a:xfrm>
            <a:off x="932688" y="5458968"/>
            <a:ext cx="3063240" cy="548640"/>
          </a:xfrm>
          <a:prstGeom prst="rect">
            <a:avLst/>
          </a:prstGeom>
          <a:noFill/>
        </p:spPr>
        <p:txBody>
          <a:bodyPr wrap="square" anchor="t" lIns="0" rIns="0" tIns="0" bIns="0">
            <a:spAutoFit/>
          </a:bodyPr>
          <a:lstStyle/>
          <a:p>
            <a:pPr algn="l">
              <a:lnSpc>
                <a:spcPct val="112000"/>
              </a:lnSpc>
            </a:pPr>
            <a:r>
              <a:rPr sz="1250" b="0" i="0">
                <a:solidFill>
                  <a:srgbClr val="93A1C0"/>
                </a:solidFill>
                <a:latin typeface="Arial"/>
              </a:rPr>
              <a:t>10+ registry checks run in one pass, tender-aware.</a:t>
            </a:r>
          </a:p>
        </p:txBody>
      </p:sp>
      <p:sp>
        <p:nvSpPr>
          <p:cNvPr id="12" name="Rounded Rectangle 11"/>
          <p:cNvSpPr/>
          <p:nvPr/>
        </p:nvSpPr>
        <p:spPr>
          <a:xfrm>
            <a:off x="4544568" y="4526280"/>
            <a:ext cx="3611880" cy="155448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37176" y="4855464"/>
            <a:ext cx="137160" cy="13716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37176" y="5093208"/>
            <a:ext cx="3063240" cy="457200"/>
          </a:xfrm>
          <a:prstGeom prst="rect">
            <a:avLst/>
          </a:prstGeom>
          <a:noFill/>
        </p:spPr>
        <p:txBody>
          <a:bodyPr wrap="square" anchor="t" lIns="0" rIns="0" tIns="0" bIns="0">
            <a:spAutoFit/>
          </a:bodyPr>
          <a:lstStyle/>
          <a:p>
            <a:pPr algn="l"/>
            <a:r>
              <a:rPr sz="1550" b="1" i="0">
                <a:solidFill>
                  <a:srgbClr val="EAF0FF"/>
                </a:solidFill>
                <a:latin typeface="Arial"/>
              </a:rPr>
              <a:t>Catches the fakes</a:t>
            </a:r>
          </a:p>
        </p:txBody>
      </p:sp>
      <p:sp>
        <p:nvSpPr>
          <p:cNvPr id="15" name="TextBox 14"/>
          <p:cNvSpPr txBox="1"/>
          <p:nvPr/>
        </p:nvSpPr>
        <p:spPr>
          <a:xfrm>
            <a:off x="4837176" y="5458968"/>
            <a:ext cx="3063240" cy="548640"/>
          </a:xfrm>
          <a:prstGeom prst="rect">
            <a:avLst/>
          </a:prstGeom>
          <a:noFill/>
        </p:spPr>
        <p:txBody>
          <a:bodyPr wrap="square" anchor="t" lIns="0" rIns="0" tIns="0" bIns="0">
            <a:spAutoFit/>
          </a:bodyPr>
          <a:lstStyle/>
          <a:p>
            <a:pPr algn="l">
              <a:lnSpc>
                <a:spcPct val="112000"/>
              </a:lnSpc>
            </a:pPr>
            <a:r>
              <a:rPr sz="1250" b="0" i="0">
                <a:solidFill>
                  <a:srgbClr val="93A1C0"/>
                </a:solidFill>
                <a:latin typeface="Arial"/>
              </a:rPr>
              <a:t>Real signature + tamper checks flag forged documents.</a:t>
            </a:r>
          </a:p>
        </p:txBody>
      </p:sp>
      <p:sp>
        <p:nvSpPr>
          <p:cNvPr id="16" name="Rounded Rectangle 15"/>
          <p:cNvSpPr/>
          <p:nvPr/>
        </p:nvSpPr>
        <p:spPr>
          <a:xfrm>
            <a:off x="8449056" y="4526280"/>
            <a:ext cx="3611880" cy="155448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41664" y="4855464"/>
            <a:ext cx="137160" cy="13716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41664" y="5093208"/>
            <a:ext cx="3063240" cy="457200"/>
          </a:xfrm>
          <a:prstGeom prst="rect">
            <a:avLst/>
          </a:prstGeom>
          <a:noFill/>
        </p:spPr>
        <p:txBody>
          <a:bodyPr wrap="square" anchor="t" lIns="0" rIns="0" tIns="0" bIns="0">
            <a:spAutoFit/>
          </a:bodyPr>
          <a:lstStyle/>
          <a:p>
            <a:pPr algn="l"/>
            <a:r>
              <a:rPr sz="1550" b="1" i="0">
                <a:solidFill>
                  <a:srgbClr val="EAF0FF"/>
                </a:solidFill>
                <a:latin typeface="Arial"/>
              </a:rPr>
              <a:t>Explains every call</a:t>
            </a:r>
          </a:p>
        </p:txBody>
      </p:sp>
      <p:sp>
        <p:nvSpPr>
          <p:cNvPr id="19" name="TextBox 18"/>
          <p:cNvSpPr txBox="1"/>
          <p:nvPr/>
        </p:nvSpPr>
        <p:spPr>
          <a:xfrm>
            <a:off x="8741664" y="5458968"/>
            <a:ext cx="3063240" cy="548640"/>
          </a:xfrm>
          <a:prstGeom prst="rect">
            <a:avLst/>
          </a:prstGeom>
          <a:noFill/>
        </p:spPr>
        <p:txBody>
          <a:bodyPr wrap="square" anchor="t" lIns="0" rIns="0" tIns="0" bIns="0">
            <a:spAutoFit/>
          </a:bodyPr>
          <a:lstStyle/>
          <a:p>
            <a:pPr algn="l">
              <a:lnSpc>
                <a:spcPct val="112000"/>
              </a:lnSpc>
            </a:pPr>
            <a:r>
              <a:rPr sz="1250" b="0" i="0">
                <a:solidFill>
                  <a:srgbClr val="93A1C0"/>
                </a:solidFill>
                <a:latin typeface="Arial"/>
              </a:rPr>
              <a:t>Each verdict links to the exact evidence behind it.</a:t>
            </a:r>
          </a:p>
        </p:txBody>
      </p:sp>
      <p:sp>
        <p:nvSpPr>
          <p:cNvPr id="20" name="TextBox 19"/>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PRAMAAN (प्रमाण) — 'proof / evidence' — the platform's core idea: every decision backed by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HOW IT WORKS</a:t>
            </a:r>
          </a:p>
        </p:txBody>
      </p:sp>
      <p:sp>
        <p:nvSpPr>
          <p:cNvPr id="4" name="TextBox 3"/>
          <p:cNvSpPr txBox="1"/>
          <p:nvPr/>
        </p:nvSpPr>
        <p:spPr>
          <a:xfrm>
            <a:off x="640080" y="914400"/>
            <a:ext cx="1133856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From uploaded documents to an auditable decision — in one pass</a:t>
            </a:r>
          </a:p>
        </p:txBody>
      </p:sp>
      <p:sp>
        <p:nvSpPr>
          <p:cNvPr id="5" name="Rectangle 4"/>
          <p:cNvSpPr/>
          <p:nvPr/>
        </p:nvSpPr>
        <p:spPr>
          <a:xfrm>
            <a:off x="1806135" y="3104387"/>
            <a:ext cx="850783" cy="27432"/>
          </a:xfrm>
          <a:prstGeom prst="rect">
            <a:avLst/>
          </a:prstGeom>
          <a:solidFill>
            <a:srgbClr val="2A3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51863" y="3104387"/>
            <a:ext cx="850783" cy="27432"/>
          </a:xfrm>
          <a:prstGeom prst="rect">
            <a:avLst/>
          </a:prstGeom>
          <a:solidFill>
            <a:srgbClr val="2A3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97591" y="3104387"/>
            <a:ext cx="850783" cy="27432"/>
          </a:xfrm>
          <a:prstGeom prst="rect">
            <a:avLst/>
          </a:prstGeom>
          <a:solidFill>
            <a:srgbClr val="2A3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43319" y="3104387"/>
            <a:ext cx="850783" cy="27432"/>
          </a:xfrm>
          <a:prstGeom prst="rect">
            <a:avLst/>
          </a:prstGeom>
          <a:solidFill>
            <a:srgbClr val="2A3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89047" y="3104387"/>
            <a:ext cx="850783" cy="27432"/>
          </a:xfrm>
          <a:prstGeom prst="rect">
            <a:avLst/>
          </a:prstGeom>
          <a:solidFill>
            <a:srgbClr val="2A3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34775" y="3104387"/>
            <a:ext cx="850783" cy="27432"/>
          </a:xfrm>
          <a:prstGeom prst="rect">
            <a:avLst/>
          </a:prstGeom>
          <a:solidFill>
            <a:srgbClr val="2A3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29479" y="2788920"/>
            <a:ext cx="658368" cy="658368"/>
          </a:xfrm>
          <a:prstGeom prst="ellipse">
            <a:avLst/>
          </a:prstGeom>
          <a:solidFill>
            <a:srgbClr val="141B2E"/>
          </a:solidFill>
          <a:ln w="2222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9479" y="2788920"/>
            <a:ext cx="658368" cy="658368"/>
          </a:xfrm>
          <a:prstGeom prst="rect">
            <a:avLst/>
          </a:prstGeom>
          <a:noFill/>
        </p:spPr>
        <p:txBody>
          <a:bodyPr wrap="square" anchor="ctr" lIns="0" rIns="0" tIns="0" bIns="0">
            <a:spAutoFit/>
          </a:bodyPr>
          <a:lstStyle/>
          <a:p>
            <a:pPr algn="ctr"/>
            <a:r>
              <a:rPr sz="2400" b="1" i="0">
                <a:solidFill>
                  <a:srgbClr val="31C8D6"/>
                </a:solidFill>
                <a:latin typeface="Arial"/>
              </a:rPr>
              <a:t>1</a:t>
            </a:r>
          </a:p>
        </p:txBody>
      </p:sp>
      <p:sp>
        <p:nvSpPr>
          <p:cNvPr id="13" name="TextBox 12"/>
          <p:cNvSpPr txBox="1"/>
          <p:nvPr/>
        </p:nvSpPr>
        <p:spPr>
          <a:xfrm>
            <a:off x="731520" y="3575303"/>
            <a:ext cx="1454287" cy="822960"/>
          </a:xfrm>
          <a:prstGeom prst="rect">
            <a:avLst/>
          </a:prstGeom>
          <a:noFill/>
        </p:spPr>
        <p:txBody>
          <a:bodyPr wrap="square" anchor="t" lIns="0" rIns="0" tIns="0" bIns="0">
            <a:spAutoFit/>
          </a:bodyPr>
          <a:lstStyle/>
          <a:p>
            <a:pPr algn="ctr">
              <a:lnSpc>
                <a:spcPct val="102000"/>
              </a:lnSpc>
            </a:pPr>
            <a:r>
              <a:rPr sz="1150" b="1" i="0">
                <a:solidFill>
                  <a:srgbClr val="EAF0FF"/>
                </a:solidFill>
                <a:latin typeface="Arial"/>
              </a:rPr>
              <a:t>Read
documents</a:t>
            </a:r>
          </a:p>
        </p:txBody>
      </p:sp>
      <p:sp>
        <p:nvSpPr>
          <p:cNvPr id="14" name="Oval 13"/>
          <p:cNvSpPr/>
          <p:nvPr/>
        </p:nvSpPr>
        <p:spPr>
          <a:xfrm>
            <a:off x="2675207" y="2788920"/>
            <a:ext cx="658368" cy="658368"/>
          </a:xfrm>
          <a:prstGeom prst="ellipse">
            <a:avLst/>
          </a:prstGeom>
          <a:solidFill>
            <a:srgbClr val="141B2E"/>
          </a:solidFill>
          <a:ln w="2222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5207" y="2788920"/>
            <a:ext cx="658368" cy="658368"/>
          </a:xfrm>
          <a:prstGeom prst="rect">
            <a:avLst/>
          </a:prstGeom>
          <a:noFill/>
        </p:spPr>
        <p:txBody>
          <a:bodyPr wrap="square" anchor="ctr" lIns="0" rIns="0" tIns="0" bIns="0">
            <a:spAutoFit/>
          </a:bodyPr>
          <a:lstStyle/>
          <a:p>
            <a:pPr algn="ctr"/>
            <a:r>
              <a:rPr sz="2400" b="1" i="0">
                <a:solidFill>
                  <a:srgbClr val="31C8D6"/>
                </a:solidFill>
                <a:latin typeface="Arial"/>
              </a:rPr>
              <a:t>2</a:t>
            </a:r>
          </a:p>
        </p:txBody>
      </p:sp>
      <p:sp>
        <p:nvSpPr>
          <p:cNvPr id="16" name="TextBox 15"/>
          <p:cNvSpPr txBox="1"/>
          <p:nvPr/>
        </p:nvSpPr>
        <p:spPr>
          <a:xfrm>
            <a:off x="2277247" y="3575303"/>
            <a:ext cx="1454287" cy="822960"/>
          </a:xfrm>
          <a:prstGeom prst="rect">
            <a:avLst/>
          </a:prstGeom>
          <a:noFill/>
        </p:spPr>
        <p:txBody>
          <a:bodyPr wrap="square" anchor="t" lIns="0" rIns="0" tIns="0" bIns="0">
            <a:spAutoFit/>
          </a:bodyPr>
          <a:lstStyle/>
          <a:p>
            <a:pPr algn="ctr">
              <a:lnSpc>
                <a:spcPct val="102000"/>
              </a:lnSpc>
            </a:pPr>
            <a:r>
              <a:rPr sz="1150" b="1" i="0">
                <a:solidFill>
                  <a:srgbClr val="EAF0FF"/>
                </a:solidFill>
                <a:latin typeface="Arial"/>
              </a:rPr>
              <a:t>Check each
registry</a:t>
            </a:r>
          </a:p>
        </p:txBody>
      </p:sp>
      <p:sp>
        <p:nvSpPr>
          <p:cNvPr id="17" name="Oval 16"/>
          <p:cNvSpPr/>
          <p:nvPr/>
        </p:nvSpPr>
        <p:spPr>
          <a:xfrm>
            <a:off x="4220935" y="2788920"/>
            <a:ext cx="658368" cy="658368"/>
          </a:xfrm>
          <a:prstGeom prst="ellipse">
            <a:avLst/>
          </a:prstGeom>
          <a:solidFill>
            <a:srgbClr val="141B2E"/>
          </a:solidFill>
          <a:ln w="2222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20935" y="2788920"/>
            <a:ext cx="658368" cy="658368"/>
          </a:xfrm>
          <a:prstGeom prst="rect">
            <a:avLst/>
          </a:prstGeom>
          <a:noFill/>
        </p:spPr>
        <p:txBody>
          <a:bodyPr wrap="square" anchor="ctr" lIns="0" rIns="0" tIns="0" bIns="0">
            <a:spAutoFit/>
          </a:bodyPr>
          <a:lstStyle/>
          <a:p>
            <a:pPr algn="ctr"/>
            <a:r>
              <a:rPr sz="2400" b="1" i="0">
                <a:solidFill>
                  <a:srgbClr val="31C8D6"/>
                </a:solidFill>
                <a:latin typeface="Arial"/>
              </a:rPr>
              <a:t>3</a:t>
            </a:r>
          </a:p>
        </p:txBody>
      </p:sp>
      <p:sp>
        <p:nvSpPr>
          <p:cNvPr id="19" name="TextBox 18"/>
          <p:cNvSpPr txBox="1"/>
          <p:nvPr/>
        </p:nvSpPr>
        <p:spPr>
          <a:xfrm>
            <a:off x="3822975" y="3575303"/>
            <a:ext cx="1454287" cy="822960"/>
          </a:xfrm>
          <a:prstGeom prst="rect">
            <a:avLst/>
          </a:prstGeom>
          <a:noFill/>
        </p:spPr>
        <p:txBody>
          <a:bodyPr wrap="square" anchor="t" lIns="0" rIns="0" tIns="0" bIns="0">
            <a:spAutoFit/>
          </a:bodyPr>
          <a:lstStyle/>
          <a:p>
            <a:pPr algn="ctr">
              <a:lnSpc>
                <a:spcPct val="102000"/>
              </a:lnSpc>
            </a:pPr>
            <a:r>
              <a:rPr sz="1150" b="1" i="0">
                <a:solidFill>
                  <a:srgbClr val="EAF0FF"/>
                </a:solidFill>
                <a:latin typeface="Arial"/>
              </a:rPr>
              <a:t>Cross-verify
it all agrees</a:t>
            </a:r>
          </a:p>
        </p:txBody>
      </p:sp>
      <p:sp>
        <p:nvSpPr>
          <p:cNvPr id="20" name="Oval 19"/>
          <p:cNvSpPr/>
          <p:nvPr/>
        </p:nvSpPr>
        <p:spPr>
          <a:xfrm>
            <a:off x="5766663" y="2788920"/>
            <a:ext cx="658368" cy="658368"/>
          </a:xfrm>
          <a:prstGeom prst="ellipse">
            <a:avLst/>
          </a:prstGeom>
          <a:solidFill>
            <a:srgbClr val="141B2E"/>
          </a:solidFill>
          <a:ln w="2222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6663" y="2788920"/>
            <a:ext cx="658368" cy="658368"/>
          </a:xfrm>
          <a:prstGeom prst="rect">
            <a:avLst/>
          </a:prstGeom>
          <a:noFill/>
        </p:spPr>
        <p:txBody>
          <a:bodyPr wrap="square" anchor="ctr" lIns="0" rIns="0" tIns="0" bIns="0">
            <a:spAutoFit/>
          </a:bodyPr>
          <a:lstStyle/>
          <a:p>
            <a:pPr algn="ctr"/>
            <a:r>
              <a:rPr sz="2400" b="1" i="0">
                <a:solidFill>
                  <a:srgbClr val="31C8D6"/>
                </a:solidFill>
                <a:latin typeface="Arial"/>
              </a:rPr>
              <a:t>4</a:t>
            </a:r>
          </a:p>
        </p:txBody>
      </p:sp>
      <p:sp>
        <p:nvSpPr>
          <p:cNvPr id="22" name="TextBox 21"/>
          <p:cNvSpPr txBox="1"/>
          <p:nvPr/>
        </p:nvSpPr>
        <p:spPr>
          <a:xfrm>
            <a:off x="5368703" y="3575303"/>
            <a:ext cx="1454287" cy="822960"/>
          </a:xfrm>
          <a:prstGeom prst="rect">
            <a:avLst/>
          </a:prstGeom>
          <a:noFill/>
        </p:spPr>
        <p:txBody>
          <a:bodyPr wrap="square" anchor="t" lIns="0" rIns="0" tIns="0" bIns="0">
            <a:spAutoFit/>
          </a:bodyPr>
          <a:lstStyle/>
          <a:p>
            <a:pPr algn="ctr">
              <a:lnSpc>
                <a:spcPct val="102000"/>
              </a:lnSpc>
            </a:pPr>
            <a:r>
              <a:rPr sz="1150" b="1" i="0">
                <a:solidFill>
                  <a:srgbClr val="EAF0FF"/>
                </a:solidFill>
                <a:latin typeface="Arial"/>
              </a:rPr>
              <a:t>Score
+ risk</a:t>
            </a:r>
          </a:p>
        </p:txBody>
      </p:sp>
      <p:sp>
        <p:nvSpPr>
          <p:cNvPr id="23" name="Oval 22"/>
          <p:cNvSpPr/>
          <p:nvPr/>
        </p:nvSpPr>
        <p:spPr>
          <a:xfrm>
            <a:off x="7312391" y="2788920"/>
            <a:ext cx="658368" cy="658368"/>
          </a:xfrm>
          <a:prstGeom prst="ellipse">
            <a:avLst/>
          </a:prstGeom>
          <a:solidFill>
            <a:srgbClr val="141B2E"/>
          </a:solidFill>
          <a:ln w="2222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2391" y="2788920"/>
            <a:ext cx="658368" cy="658368"/>
          </a:xfrm>
          <a:prstGeom prst="rect">
            <a:avLst/>
          </a:prstGeom>
          <a:noFill/>
        </p:spPr>
        <p:txBody>
          <a:bodyPr wrap="square" anchor="ctr" lIns="0" rIns="0" tIns="0" bIns="0">
            <a:spAutoFit/>
          </a:bodyPr>
          <a:lstStyle/>
          <a:p>
            <a:pPr algn="ctr"/>
            <a:r>
              <a:rPr sz="2400" b="1" i="0">
                <a:solidFill>
                  <a:srgbClr val="31C8D6"/>
                </a:solidFill>
                <a:latin typeface="Arial"/>
              </a:rPr>
              <a:t>5</a:t>
            </a:r>
          </a:p>
        </p:txBody>
      </p:sp>
      <p:sp>
        <p:nvSpPr>
          <p:cNvPr id="25" name="TextBox 24"/>
          <p:cNvSpPr txBox="1"/>
          <p:nvPr/>
        </p:nvSpPr>
        <p:spPr>
          <a:xfrm>
            <a:off x="6914431" y="3575303"/>
            <a:ext cx="1454287" cy="822960"/>
          </a:xfrm>
          <a:prstGeom prst="rect">
            <a:avLst/>
          </a:prstGeom>
          <a:noFill/>
        </p:spPr>
        <p:txBody>
          <a:bodyPr wrap="square" anchor="t" lIns="0" rIns="0" tIns="0" bIns="0">
            <a:spAutoFit/>
          </a:bodyPr>
          <a:lstStyle/>
          <a:p>
            <a:pPr algn="ctr">
              <a:lnSpc>
                <a:spcPct val="102000"/>
              </a:lnSpc>
            </a:pPr>
            <a:r>
              <a:rPr sz="1150" b="1" i="0">
                <a:solidFill>
                  <a:srgbClr val="EAF0FF"/>
                </a:solidFill>
                <a:latin typeface="Arial"/>
              </a:rPr>
              <a:t>Recommend</a:t>
            </a:r>
          </a:p>
        </p:txBody>
      </p:sp>
      <p:sp>
        <p:nvSpPr>
          <p:cNvPr id="26" name="Oval 25"/>
          <p:cNvSpPr/>
          <p:nvPr/>
        </p:nvSpPr>
        <p:spPr>
          <a:xfrm>
            <a:off x="8858119" y="2788920"/>
            <a:ext cx="658368" cy="658368"/>
          </a:xfrm>
          <a:prstGeom prst="ellipse">
            <a:avLst/>
          </a:prstGeom>
          <a:solidFill>
            <a:srgbClr val="10362B"/>
          </a:solidFill>
          <a:ln w="222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58119" y="2788920"/>
            <a:ext cx="658368" cy="658368"/>
          </a:xfrm>
          <a:prstGeom prst="rect">
            <a:avLst/>
          </a:prstGeom>
          <a:noFill/>
        </p:spPr>
        <p:txBody>
          <a:bodyPr wrap="square" anchor="ctr" lIns="0" rIns="0" tIns="0" bIns="0">
            <a:spAutoFit/>
          </a:bodyPr>
          <a:lstStyle/>
          <a:p>
            <a:pPr algn="ctr"/>
            <a:r>
              <a:rPr sz="2400" b="1" i="0">
                <a:solidFill>
                  <a:srgbClr val="34D399"/>
                </a:solidFill>
                <a:latin typeface="Arial"/>
              </a:rPr>
              <a:t>6</a:t>
            </a:r>
          </a:p>
        </p:txBody>
      </p:sp>
      <p:sp>
        <p:nvSpPr>
          <p:cNvPr id="28" name="TextBox 27"/>
          <p:cNvSpPr txBox="1"/>
          <p:nvPr/>
        </p:nvSpPr>
        <p:spPr>
          <a:xfrm>
            <a:off x="8460159" y="3575303"/>
            <a:ext cx="1454287" cy="822960"/>
          </a:xfrm>
          <a:prstGeom prst="rect">
            <a:avLst/>
          </a:prstGeom>
          <a:noFill/>
        </p:spPr>
        <p:txBody>
          <a:bodyPr wrap="square" anchor="t" lIns="0" rIns="0" tIns="0" bIns="0">
            <a:spAutoFit/>
          </a:bodyPr>
          <a:lstStyle/>
          <a:p>
            <a:pPr algn="ctr">
              <a:lnSpc>
                <a:spcPct val="102000"/>
              </a:lnSpc>
            </a:pPr>
            <a:r>
              <a:rPr sz="1150" b="1" i="0">
                <a:solidFill>
                  <a:srgbClr val="EAF0FF"/>
                </a:solidFill>
                <a:latin typeface="Arial"/>
              </a:rPr>
              <a:t>Officer
decides</a:t>
            </a:r>
          </a:p>
        </p:txBody>
      </p:sp>
      <p:sp>
        <p:nvSpPr>
          <p:cNvPr id="29" name="Oval 28"/>
          <p:cNvSpPr/>
          <p:nvPr/>
        </p:nvSpPr>
        <p:spPr>
          <a:xfrm>
            <a:off x="10403847" y="2788920"/>
            <a:ext cx="658368" cy="658368"/>
          </a:xfrm>
          <a:prstGeom prst="ellipse">
            <a:avLst/>
          </a:prstGeom>
          <a:solidFill>
            <a:srgbClr val="141B2E"/>
          </a:solidFill>
          <a:ln w="2222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03847" y="2788920"/>
            <a:ext cx="658368" cy="658368"/>
          </a:xfrm>
          <a:prstGeom prst="rect">
            <a:avLst/>
          </a:prstGeom>
          <a:noFill/>
        </p:spPr>
        <p:txBody>
          <a:bodyPr wrap="square" anchor="ctr" lIns="0" rIns="0" tIns="0" bIns="0">
            <a:spAutoFit/>
          </a:bodyPr>
          <a:lstStyle/>
          <a:p>
            <a:pPr algn="ctr"/>
            <a:r>
              <a:rPr sz="2400" b="1" i="0">
                <a:solidFill>
                  <a:srgbClr val="31C8D6"/>
                </a:solidFill>
                <a:latin typeface="Arial"/>
              </a:rPr>
              <a:t>7</a:t>
            </a:r>
          </a:p>
        </p:txBody>
      </p:sp>
      <p:sp>
        <p:nvSpPr>
          <p:cNvPr id="31" name="TextBox 30"/>
          <p:cNvSpPr txBox="1"/>
          <p:nvPr/>
        </p:nvSpPr>
        <p:spPr>
          <a:xfrm>
            <a:off x="10005887" y="3575303"/>
            <a:ext cx="1454287" cy="822960"/>
          </a:xfrm>
          <a:prstGeom prst="rect">
            <a:avLst/>
          </a:prstGeom>
          <a:noFill/>
        </p:spPr>
        <p:txBody>
          <a:bodyPr wrap="square" anchor="t" lIns="0" rIns="0" tIns="0" bIns="0">
            <a:spAutoFit/>
          </a:bodyPr>
          <a:lstStyle/>
          <a:p>
            <a:pPr algn="ctr">
              <a:lnSpc>
                <a:spcPct val="102000"/>
              </a:lnSpc>
            </a:pPr>
            <a:r>
              <a:rPr sz="1150" b="1" i="0">
                <a:solidFill>
                  <a:srgbClr val="EAF0FF"/>
                </a:solidFill>
                <a:latin typeface="Arial"/>
              </a:rPr>
              <a:t>Lock in
audit trail</a:t>
            </a:r>
          </a:p>
        </p:txBody>
      </p:sp>
      <p:sp>
        <p:nvSpPr>
          <p:cNvPr id="32" name="Rounded Rectangle 31"/>
          <p:cNvSpPr/>
          <p:nvPr/>
        </p:nvSpPr>
        <p:spPr>
          <a:xfrm>
            <a:off x="685800" y="4526280"/>
            <a:ext cx="10817352" cy="86868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626864"/>
            <a:ext cx="10241280" cy="685800"/>
          </a:xfrm>
          <a:prstGeom prst="rect">
            <a:avLst/>
          </a:prstGeom>
          <a:noFill/>
        </p:spPr>
        <p:txBody>
          <a:bodyPr wrap="square" anchor="ctr" lIns="0" rIns="0" tIns="0" bIns="0">
            <a:spAutoFit/>
          </a:bodyPr>
          <a:lstStyle/>
          <a:p>
            <a:pPr algn="l">
              <a:lnSpc>
                <a:spcPct val="110000"/>
              </a:lnSpc>
            </a:pPr>
            <a:r>
              <a:rPr sz="1450" b="0" i="0">
                <a:solidFill>
                  <a:srgbClr val="EAF0FF"/>
                </a:solidFill>
                <a:latin typeface="Arial"/>
              </a:rPr>
              <a:t>Every step records its evidence — the exact document, field, value, rule and a confidence score. </a:t>
            </a:r>
            <a:r>
              <a:rPr sz="1450" b="1" i="0">
                <a:solidFill>
                  <a:srgbClr val="31C8D6"/>
                </a:solidFill>
                <a:latin typeface="Arial"/>
              </a:rPr>
              <a:t>Nothing is a black box.</a:t>
            </a:r>
          </a:p>
        </p:txBody>
      </p:sp>
      <p:sp>
        <p:nvSpPr>
          <p:cNvPr id="34" name="TextBox 33"/>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The pipeline is idempotent — re-running a bidder cleanly replaces the old result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COVERAGE</a:t>
            </a:r>
          </a:p>
        </p:txBody>
      </p:sp>
      <p:sp>
        <p:nvSpPr>
          <p:cNvPr id="4" name="TextBox 3"/>
          <p:cNvSpPr txBox="1"/>
          <p:nvPr/>
        </p:nvSpPr>
        <p:spPr>
          <a:xfrm>
            <a:off x="640080" y="914400"/>
            <a:ext cx="1133856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12 compliance checks — the full GeM eligibility picture</a:t>
            </a:r>
          </a:p>
        </p:txBody>
      </p:sp>
      <p:sp>
        <p:nvSpPr>
          <p:cNvPr id="5" name="Rounded Rectangle 4"/>
          <p:cNvSpPr/>
          <p:nvPr/>
        </p:nvSpPr>
        <p:spPr>
          <a:xfrm>
            <a:off x="640080" y="1810512"/>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066543"/>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19" y="1993392"/>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Udyam / MSME</a:t>
            </a:r>
          </a:p>
        </p:txBody>
      </p:sp>
      <p:sp>
        <p:nvSpPr>
          <p:cNvPr id="8" name="Rounded Rectangle 7"/>
          <p:cNvSpPr/>
          <p:nvPr/>
        </p:nvSpPr>
        <p:spPr>
          <a:xfrm>
            <a:off x="3529584" y="1810512"/>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67328" y="2066543"/>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78224" y="1993392"/>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GST + returns</a:t>
            </a:r>
          </a:p>
        </p:txBody>
      </p:sp>
      <p:sp>
        <p:nvSpPr>
          <p:cNvPr id="11" name="Rounded Rectangle 10"/>
          <p:cNvSpPr/>
          <p:nvPr/>
        </p:nvSpPr>
        <p:spPr>
          <a:xfrm>
            <a:off x="6419088" y="1810512"/>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56832" y="2066543"/>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67728" y="1993392"/>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PAN (Income Tax)</a:t>
            </a:r>
          </a:p>
        </p:txBody>
      </p:sp>
      <p:sp>
        <p:nvSpPr>
          <p:cNvPr id="14" name="Rounded Rectangle 13"/>
          <p:cNvSpPr/>
          <p:nvPr/>
        </p:nvSpPr>
        <p:spPr>
          <a:xfrm>
            <a:off x="9308592" y="1810512"/>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546336" y="2066543"/>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57232" y="1993392"/>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MCA / CIN</a:t>
            </a:r>
          </a:p>
        </p:txBody>
      </p:sp>
      <p:sp>
        <p:nvSpPr>
          <p:cNvPr id="17" name="Rounded Rectangle 16"/>
          <p:cNvSpPr/>
          <p:nvPr/>
        </p:nvSpPr>
        <p:spPr>
          <a:xfrm>
            <a:off x="640080" y="3054096"/>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77824" y="3310128"/>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19" y="3236976"/>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Make-in-India
local content</a:t>
            </a:r>
          </a:p>
        </p:txBody>
      </p:sp>
      <p:sp>
        <p:nvSpPr>
          <p:cNvPr id="20" name="Rounded Rectangle 19"/>
          <p:cNvSpPr/>
          <p:nvPr/>
        </p:nvSpPr>
        <p:spPr>
          <a:xfrm>
            <a:off x="3529584" y="3054096"/>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767328" y="3310128"/>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8224" y="3236976"/>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EPFO</a:t>
            </a:r>
          </a:p>
        </p:txBody>
      </p:sp>
      <p:sp>
        <p:nvSpPr>
          <p:cNvPr id="23" name="Rounded Rectangle 22"/>
          <p:cNvSpPr/>
          <p:nvPr/>
        </p:nvSpPr>
        <p:spPr>
          <a:xfrm>
            <a:off x="6419088" y="3054096"/>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56832" y="3310128"/>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7728" y="3236976"/>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ESIC</a:t>
            </a:r>
          </a:p>
        </p:txBody>
      </p:sp>
      <p:sp>
        <p:nvSpPr>
          <p:cNvPr id="26" name="Rounded Rectangle 25"/>
          <p:cNvSpPr/>
          <p:nvPr/>
        </p:nvSpPr>
        <p:spPr>
          <a:xfrm>
            <a:off x="9308592" y="3054096"/>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46336" y="3310128"/>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7232" y="3236976"/>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Startup India (DPIIT)</a:t>
            </a:r>
          </a:p>
        </p:txBody>
      </p:sp>
      <p:sp>
        <p:nvSpPr>
          <p:cNvPr id="29" name="Rounded Rectangle 28"/>
          <p:cNvSpPr/>
          <p:nvPr/>
        </p:nvSpPr>
        <p:spPr>
          <a:xfrm>
            <a:off x="640080" y="4297679"/>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7824" y="4553712"/>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88719" y="4480559"/>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NSIC</a:t>
            </a:r>
          </a:p>
        </p:txBody>
      </p:sp>
      <p:sp>
        <p:nvSpPr>
          <p:cNvPr id="32" name="Rounded Rectangle 31"/>
          <p:cNvSpPr/>
          <p:nvPr/>
        </p:nvSpPr>
        <p:spPr>
          <a:xfrm>
            <a:off x="3529584" y="4297679"/>
            <a:ext cx="2670048" cy="1060704"/>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67328" y="4553712"/>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78224" y="4480559"/>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OEM authorization</a:t>
            </a:r>
          </a:p>
        </p:txBody>
      </p:sp>
      <p:sp>
        <p:nvSpPr>
          <p:cNvPr id="35" name="Rounded Rectangle 34"/>
          <p:cNvSpPr/>
          <p:nvPr/>
        </p:nvSpPr>
        <p:spPr>
          <a:xfrm>
            <a:off x="6419088" y="4297679"/>
            <a:ext cx="2670048" cy="1060704"/>
          </a:xfrm>
          <a:prstGeom prst="roundRect">
            <a:avLst>
              <a:gd name="adj" fmla="val 6000"/>
            </a:avLst>
          </a:prstGeom>
          <a:solidFill>
            <a:srgbClr val="1B2540"/>
          </a:solidFill>
          <a:ln w="1587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56832" y="4553712"/>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7728" y="4480559"/>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DigiLocker integrity</a:t>
            </a:r>
          </a:p>
        </p:txBody>
      </p:sp>
      <p:sp>
        <p:nvSpPr>
          <p:cNvPr id="38" name="Rounded Rectangle 37"/>
          <p:cNvSpPr/>
          <p:nvPr/>
        </p:nvSpPr>
        <p:spPr>
          <a:xfrm>
            <a:off x="9308592" y="4297679"/>
            <a:ext cx="2670048" cy="1060704"/>
          </a:xfrm>
          <a:prstGeom prst="roundRect">
            <a:avLst>
              <a:gd name="adj" fmla="val 6000"/>
            </a:avLst>
          </a:prstGeom>
          <a:solidFill>
            <a:srgbClr val="1B2540"/>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546336" y="4553712"/>
            <a:ext cx="182880" cy="18288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57232" y="4480559"/>
            <a:ext cx="1984248" cy="822960"/>
          </a:xfrm>
          <a:prstGeom prst="rect">
            <a:avLst/>
          </a:prstGeom>
          <a:noFill/>
        </p:spPr>
        <p:txBody>
          <a:bodyPr wrap="square" anchor="ctr" lIns="0" rIns="0" tIns="0" bIns="0">
            <a:spAutoFit/>
          </a:bodyPr>
          <a:lstStyle/>
          <a:p>
            <a:pPr algn="l">
              <a:lnSpc>
                <a:spcPct val="100000"/>
              </a:lnSpc>
            </a:pPr>
            <a:r>
              <a:rPr sz="1350" b="1" i="0">
                <a:solidFill>
                  <a:srgbClr val="EAF0FF"/>
                </a:solidFill>
                <a:latin typeface="Arial"/>
              </a:rPr>
              <a:t>Blacklist / debarment</a:t>
            </a:r>
          </a:p>
        </p:txBody>
      </p:sp>
      <p:sp>
        <p:nvSpPr>
          <p:cNvPr id="41" name="TextBox 40"/>
          <p:cNvSpPr txBox="1"/>
          <p:nvPr/>
        </p:nvSpPr>
        <p:spPr>
          <a:xfrm>
            <a:off x="640080" y="5577840"/>
            <a:ext cx="10972800" cy="548640"/>
          </a:xfrm>
          <a:prstGeom prst="rect">
            <a:avLst/>
          </a:prstGeom>
          <a:noFill/>
        </p:spPr>
        <p:txBody>
          <a:bodyPr wrap="square" anchor="t" lIns="0" rIns="0" tIns="0" bIns="0">
            <a:spAutoFit/>
          </a:bodyPr>
          <a:lstStyle/>
          <a:p>
            <a:pPr algn="l"/>
            <a:r>
              <a:rPr sz="1350" b="1" i="0">
                <a:solidFill>
                  <a:srgbClr val="31C8D6"/>
                </a:solidFill>
                <a:latin typeface="Arial"/>
              </a:rPr>
              <a:t>Tender-aware: </a:t>
            </a:r>
            <a:r>
              <a:rPr sz="1350" b="0" i="0">
                <a:solidFill>
                  <a:srgbClr val="93A1C0"/>
                </a:solidFill>
                <a:latin typeface="Arial"/>
              </a:rPr>
              <a:t>the system runs only the checks that apply to this tender and this bidder — no wasted work.</a:t>
            </a:r>
          </a:p>
        </p:txBody>
      </p:sp>
      <p:sp>
        <p:nvSpPr>
          <p:cNvPr id="42" name="TextBox 41"/>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The last two — DigiLocker integrity and blacklist — are the ones most tools skip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PILLAR 1 · READING</a:t>
            </a:r>
          </a:p>
        </p:txBody>
      </p:sp>
      <p:sp>
        <p:nvSpPr>
          <p:cNvPr id="4" name="TextBox 3"/>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It reads the paperwork for you</a:t>
            </a:r>
          </a:p>
        </p:txBody>
      </p:sp>
      <p:sp>
        <p:nvSpPr>
          <p:cNvPr id="5" name="TextBox 4"/>
          <p:cNvSpPr txBox="1"/>
          <p:nvPr/>
        </p:nvSpPr>
        <p:spPr>
          <a:xfrm>
            <a:off x="640080" y="2057400"/>
            <a:ext cx="6035040" cy="3108960"/>
          </a:xfrm>
          <a:prstGeom prst="rect">
            <a:avLst/>
          </a:prstGeom>
          <a:noFill/>
        </p:spPr>
        <p:txBody>
          <a:bodyPr wrap="square" anchor="t" lIns="0" rIns="0" tIns="0" bIns="0">
            <a:spAutoFit/>
          </a:bodyPr>
          <a:lstStyle/>
          <a:p>
            <a:pPr algn="l">
              <a:lnSpc>
                <a:spcPct val="120000"/>
              </a:lnSpc>
              <a:spcAft>
                <a:spcPts val="200"/>
              </a:spcAft>
            </a:pPr>
            <a:r>
              <a:rPr sz="1600" b="0" i="0">
                <a:solidFill>
                  <a:srgbClr val="EAF0FF"/>
                </a:solidFill>
                <a:latin typeface="Arial"/>
              </a:rPr>
              <a:t>Bidders upload PDFs — registration certificates, authorization letters, self-declarations.</a:t>
            </a:r>
          </a:p>
          <a:p>
            <a:pPr algn="l">
              <a:lnSpc>
                <a:spcPct val="120000"/>
              </a:lnSpc>
              <a:spcAft>
                <a:spcPts val="200"/>
              </a:spcAft>
            </a:pPr>
            <a:r>
              <a:rPr sz="600" b="0" i="0">
                <a:solidFill>
                  <a:srgbClr val="EAF0FF"/>
                </a:solidFill>
                <a:latin typeface="Arial"/>
              </a:rPr>
              <a:t/>
            </a:r>
          </a:p>
          <a:p>
            <a:pPr algn="l">
              <a:lnSpc>
                <a:spcPct val="120000"/>
              </a:lnSpc>
              <a:spcAft>
                <a:spcPts val="200"/>
              </a:spcAft>
            </a:pPr>
            <a:r>
              <a:rPr sz="1500" b="0" i="0">
                <a:solidFill>
                  <a:srgbClr val="93A1C0"/>
                </a:solidFill>
                <a:latin typeface="Arial"/>
              </a:rPr>
              <a:t>The engine automatically pulls out the key fields: names, ID numbers, dates, amounts — so no one re-types anything by hand.</a:t>
            </a:r>
          </a:p>
          <a:p>
            <a:pPr algn="l">
              <a:lnSpc>
                <a:spcPct val="120000"/>
              </a:lnSpc>
              <a:spcAft>
                <a:spcPts val="200"/>
              </a:spcAft>
            </a:pPr>
            <a:r>
              <a:rPr sz="600" b="0" i="0">
                <a:solidFill>
                  <a:srgbClr val="EAF0FF"/>
                </a:solidFill>
                <a:latin typeface="Arial"/>
              </a:rPr>
              <a:t/>
            </a:r>
          </a:p>
          <a:p>
            <a:pPr algn="l">
              <a:lnSpc>
                <a:spcPct val="120000"/>
              </a:lnSpc>
              <a:spcAft>
                <a:spcPts val="200"/>
              </a:spcAft>
            </a:pPr>
            <a:r>
              <a:rPr sz="1500" b="0" i="0">
                <a:solidFill>
                  <a:srgbClr val="93A1C0"/>
                </a:solidFill>
                <a:latin typeface="Arial"/>
              </a:rPr>
              <a:t>Text PDFs are read instantly and fully offline. Scanned or photographed documents can go through OCR as an optional upgrade.</a:t>
            </a:r>
          </a:p>
        </p:txBody>
      </p:sp>
      <p:sp>
        <p:nvSpPr>
          <p:cNvPr id="6" name="Rounded Rectangle 5"/>
          <p:cNvSpPr/>
          <p:nvPr/>
        </p:nvSpPr>
        <p:spPr>
          <a:xfrm>
            <a:off x="6995160" y="2057400"/>
            <a:ext cx="4526280" cy="306324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2331720"/>
            <a:ext cx="3931920" cy="457200"/>
          </a:xfrm>
          <a:prstGeom prst="rect">
            <a:avLst/>
          </a:prstGeom>
          <a:noFill/>
        </p:spPr>
        <p:txBody>
          <a:bodyPr wrap="square" anchor="t" lIns="0" rIns="0" tIns="0" bIns="0">
            <a:spAutoFit/>
          </a:bodyPr>
          <a:lstStyle/>
          <a:p>
            <a:pPr algn="l"/>
            <a:r>
              <a:rPr sz="1300" b="1" i="0">
                <a:solidFill>
                  <a:srgbClr val="31C8D6"/>
                </a:solidFill>
                <a:latin typeface="Arial"/>
              </a:rPr>
              <a:t>Extracted automatically</a:t>
            </a:r>
          </a:p>
        </p:txBody>
      </p:sp>
      <p:sp>
        <p:nvSpPr>
          <p:cNvPr id="8" name="TextBox 7"/>
          <p:cNvSpPr txBox="1"/>
          <p:nvPr/>
        </p:nvSpPr>
        <p:spPr>
          <a:xfrm>
            <a:off x="7315200" y="2834640"/>
            <a:ext cx="1600200" cy="365760"/>
          </a:xfrm>
          <a:prstGeom prst="rect">
            <a:avLst/>
          </a:prstGeom>
          <a:noFill/>
        </p:spPr>
        <p:txBody>
          <a:bodyPr wrap="square" anchor="t" lIns="0" rIns="0" tIns="0" bIns="0">
            <a:spAutoFit/>
          </a:bodyPr>
          <a:lstStyle/>
          <a:p>
            <a:pPr algn="l"/>
            <a:r>
              <a:rPr sz="1250" b="0" i="0">
                <a:solidFill>
                  <a:srgbClr val="93A1C0"/>
                </a:solidFill>
                <a:latin typeface="Arial"/>
              </a:rPr>
              <a:t>Legal name</a:t>
            </a:r>
          </a:p>
        </p:txBody>
      </p:sp>
      <p:sp>
        <p:nvSpPr>
          <p:cNvPr id="9" name="TextBox 8"/>
          <p:cNvSpPr txBox="1"/>
          <p:nvPr/>
        </p:nvSpPr>
        <p:spPr>
          <a:xfrm>
            <a:off x="8869680" y="2834640"/>
            <a:ext cx="2468880" cy="365760"/>
          </a:xfrm>
          <a:prstGeom prst="rect">
            <a:avLst/>
          </a:prstGeom>
          <a:noFill/>
        </p:spPr>
        <p:txBody>
          <a:bodyPr wrap="square" anchor="t" lIns="0" rIns="0" tIns="0" bIns="0">
            <a:spAutoFit/>
          </a:bodyPr>
          <a:lstStyle/>
          <a:p>
            <a:pPr algn="l"/>
            <a:r>
              <a:rPr sz="1250" b="1" i="0">
                <a:solidFill>
                  <a:srgbClr val="EAF0FF"/>
                </a:solidFill>
                <a:latin typeface="Courier New"/>
              </a:rPr>
              <a:t>CleanCorp Industrial Solutions</a:t>
            </a:r>
          </a:p>
        </p:txBody>
      </p:sp>
      <p:sp>
        <p:nvSpPr>
          <p:cNvPr id="10" name="TextBox 9"/>
          <p:cNvSpPr txBox="1"/>
          <p:nvPr/>
        </p:nvSpPr>
        <p:spPr>
          <a:xfrm>
            <a:off x="7315200" y="3264408"/>
            <a:ext cx="1600200" cy="365760"/>
          </a:xfrm>
          <a:prstGeom prst="rect">
            <a:avLst/>
          </a:prstGeom>
          <a:noFill/>
        </p:spPr>
        <p:txBody>
          <a:bodyPr wrap="square" anchor="t" lIns="0" rIns="0" tIns="0" bIns="0">
            <a:spAutoFit/>
          </a:bodyPr>
          <a:lstStyle/>
          <a:p>
            <a:pPr algn="l"/>
            <a:r>
              <a:rPr sz="1250" b="0" i="0">
                <a:solidFill>
                  <a:srgbClr val="93A1C0"/>
                </a:solidFill>
                <a:latin typeface="Arial"/>
              </a:rPr>
              <a:t>PAN</a:t>
            </a:r>
          </a:p>
        </p:txBody>
      </p:sp>
      <p:sp>
        <p:nvSpPr>
          <p:cNvPr id="11" name="TextBox 10"/>
          <p:cNvSpPr txBox="1"/>
          <p:nvPr/>
        </p:nvSpPr>
        <p:spPr>
          <a:xfrm>
            <a:off x="8869680" y="3264408"/>
            <a:ext cx="2468880" cy="365760"/>
          </a:xfrm>
          <a:prstGeom prst="rect">
            <a:avLst/>
          </a:prstGeom>
          <a:noFill/>
        </p:spPr>
        <p:txBody>
          <a:bodyPr wrap="square" anchor="t" lIns="0" rIns="0" tIns="0" bIns="0">
            <a:spAutoFit/>
          </a:bodyPr>
          <a:lstStyle/>
          <a:p>
            <a:pPr algn="l"/>
            <a:r>
              <a:rPr sz="1250" b="1" i="0">
                <a:solidFill>
                  <a:srgbClr val="EAF0FF"/>
                </a:solidFill>
                <a:latin typeface="Courier New"/>
              </a:rPr>
              <a:t>AABCC1234C</a:t>
            </a:r>
          </a:p>
        </p:txBody>
      </p:sp>
      <p:sp>
        <p:nvSpPr>
          <p:cNvPr id="12" name="TextBox 11"/>
          <p:cNvSpPr txBox="1"/>
          <p:nvPr/>
        </p:nvSpPr>
        <p:spPr>
          <a:xfrm>
            <a:off x="7315200" y="3694176"/>
            <a:ext cx="1600200" cy="365760"/>
          </a:xfrm>
          <a:prstGeom prst="rect">
            <a:avLst/>
          </a:prstGeom>
          <a:noFill/>
        </p:spPr>
        <p:txBody>
          <a:bodyPr wrap="square" anchor="t" lIns="0" rIns="0" tIns="0" bIns="0">
            <a:spAutoFit/>
          </a:bodyPr>
          <a:lstStyle/>
          <a:p>
            <a:pPr algn="l"/>
            <a:r>
              <a:rPr sz="1250" b="0" i="0">
                <a:solidFill>
                  <a:srgbClr val="93A1C0"/>
                </a:solidFill>
                <a:latin typeface="Arial"/>
              </a:rPr>
              <a:t>GSTIN</a:t>
            </a:r>
          </a:p>
        </p:txBody>
      </p:sp>
      <p:sp>
        <p:nvSpPr>
          <p:cNvPr id="13" name="TextBox 12"/>
          <p:cNvSpPr txBox="1"/>
          <p:nvPr/>
        </p:nvSpPr>
        <p:spPr>
          <a:xfrm>
            <a:off x="8869680" y="3694176"/>
            <a:ext cx="2468880" cy="365760"/>
          </a:xfrm>
          <a:prstGeom prst="rect">
            <a:avLst/>
          </a:prstGeom>
          <a:noFill/>
        </p:spPr>
        <p:txBody>
          <a:bodyPr wrap="square" anchor="t" lIns="0" rIns="0" tIns="0" bIns="0">
            <a:spAutoFit/>
          </a:bodyPr>
          <a:lstStyle/>
          <a:p>
            <a:pPr algn="l"/>
            <a:r>
              <a:rPr sz="1250" b="1" i="0">
                <a:solidFill>
                  <a:srgbClr val="EAF0FF"/>
                </a:solidFill>
                <a:latin typeface="Courier New"/>
              </a:rPr>
              <a:t>27AABCC1234C1Z5</a:t>
            </a:r>
          </a:p>
        </p:txBody>
      </p:sp>
      <p:sp>
        <p:nvSpPr>
          <p:cNvPr id="14" name="TextBox 13"/>
          <p:cNvSpPr txBox="1"/>
          <p:nvPr/>
        </p:nvSpPr>
        <p:spPr>
          <a:xfrm>
            <a:off x="7315200" y="4123944"/>
            <a:ext cx="1600200" cy="365760"/>
          </a:xfrm>
          <a:prstGeom prst="rect">
            <a:avLst/>
          </a:prstGeom>
          <a:noFill/>
        </p:spPr>
        <p:txBody>
          <a:bodyPr wrap="square" anchor="t" lIns="0" rIns="0" tIns="0" bIns="0">
            <a:spAutoFit/>
          </a:bodyPr>
          <a:lstStyle/>
          <a:p>
            <a:pPr algn="l"/>
            <a:r>
              <a:rPr sz="1250" b="0" i="0">
                <a:solidFill>
                  <a:srgbClr val="93A1C0"/>
                </a:solidFill>
                <a:latin typeface="Arial"/>
              </a:rPr>
              <a:t>Udyam No.</a:t>
            </a:r>
          </a:p>
        </p:txBody>
      </p:sp>
      <p:sp>
        <p:nvSpPr>
          <p:cNvPr id="15" name="TextBox 14"/>
          <p:cNvSpPr txBox="1"/>
          <p:nvPr/>
        </p:nvSpPr>
        <p:spPr>
          <a:xfrm>
            <a:off x="8869680" y="4123944"/>
            <a:ext cx="2468880" cy="365760"/>
          </a:xfrm>
          <a:prstGeom prst="rect">
            <a:avLst/>
          </a:prstGeom>
          <a:noFill/>
        </p:spPr>
        <p:txBody>
          <a:bodyPr wrap="square" anchor="t" lIns="0" rIns="0" tIns="0" bIns="0">
            <a:spAutoFit/>
          </a:bodyPr>
          <a:lstStyle/>
          <a:p>
            <a:pPr algn="l"/>
            <a:r>
              <a:rPr sz="1250" b="1" i="0">
                <a:solidFill>
                  <a:srgbClr val="EAF0FF"/>
                </a:solidFill>
                <a:latin typeface="Courier New"/>
              </a:rPr>
              <a:t>UDYAM-TN-02-0005678</a:t>
            </a:r>
          </a:p>
        </p:txBody>
      </p:sp>
      <p:sp>
        <p:nvSpPr>
          <p:cNvPr id="16" name="TextBox 15"/>
          <p:cNvSpPr txBox="1"/>
          <p:nvPr/>
        </p:nvSpPr>
        <p:spPr>
          <a:xfrm>
            <a:off x="7315200" y="4553712"/>
            <a:ext cx="1600200" cy="365760"/>
          </a:xfrm>
          <a:prstGeom prst="rect">
            <a:avLst/>
          </a:prstGeom>
          <a:noFill/>
        </p:spPr>
        <p:txBody>
          <a:bodyPr wrap="square" anchor="t" lIns="0" rIns="0" tIns="0" bIns="0">
            <a:spAutoFit/>
          </a:bodyPr>
          <a:lstStyle/>
          <a:p>
            <a:pPr algn="l"/>
            <a:r>
              <a:rPr sz="1250" b="0" i="0">
                <a:solidFill>
                  <a:srgbClr val="93A1C0"/>
                </a:solidFill>
                <a:latin typeface="Arial"/>
              </a:rPr>
              <a:t>Valid until</a:t>
            </a:r>
          </a:p>
        </p:txBody>
      </p:sp>
      <p:sp>
        <p:nvSpPr>
          <p:cNvPr id="17" name="TextBox 16"/>
          <p:cNvSpPr txBox="1"/>
          <p:nvPr/>
        </p:nvSpPr>
        <p:spPr>
          <a:xfrm>
            <a:off x="8869680" y="4553712"/>
            <a:ext cx="2468880" cy="365760"/>
          </a:xfrm>
          <a:prstGeom prst="rect">
            <a:avLst/>
          </a:prstGeom>
          <a:noFill/>
        </p:spPr>
        <p:txBody>
          <a:bodyPr wrap="square" anchor="t" lIns="0" rIns="0" tIns="0" bIns="0">
            <a:spAutoFit/>
          </a:bodyPr>
          <a:lstStyle/>
          <a:p>
            <a:pPr algn="l"/>
            <a:r>
              <a:rPr sz="1250" b="1" i="0">
                <a:solidFill>
                  <a:srgbClr val="EAF0FF"/>
                </a:solidFill>
                <a:latin typeface="Courier New"/>
              </a:rPr>
              <a:t>2027-03-31</a:t>
            </a:r>
          </a:p>
        </p:txBody>
      </p:sp>
      <p:sp>
        <p:nvSpPr>
          <p:cNvPr id="18" name="TextBox 17"/>
          <p:cNvSpPr txBox="1"/>
          <p:nvPr/>
        </p:nvSpPr>
        <p:spPr>
          <a:xfrm>
            <a:off x="640080" y="5623560"/>
            <a:ext cx="10972800" cy="457200"/>
          </a:xfrm>
          <a:prstGeom prst="rect">
            <a:avLst/>
          </a:prstGeom>
          <a:noFill/>
        </p:spPr>
        <p:txBody>
          <a:bodyPr wrap="square" anchor="t" lIns="0" rIns="0" tIns="0" bIns="0">
            <a:spAutoFit/>
          </a:bodyPr>
          <a:lstStyle/>
          <a:p>
            <a:pPr algn="l"/>
            <a:r>
              <a:rPr sz="1500" b="1" i="0">
                <a:solidFill>
                  <a:srgbClr val="EAF0FF"/>
                </a:solidFill>
                <a:latin typeface="Arial"/>
              </a:rPr>
              <a:t>No copy-paste. No manual data entry. </a:t>
            </a:r>
            <a:r>
              <a:rPr sz="1500" b="0" i="0">
                <a:solidFill>
                  <a:srgbClr val="93A1C0"/>
                </a:solidFill>
                <a:latin typeface="Arial"/>
              </a:rPr>
              <a:t>The officer starts from clean, structured data.</a:t>
            </a:r>
          </a:p>
        </p:txBody>
      </p:sp>
      <p:sp>
        <p:nvSpPr>
          <p:cNvPr id="19" name="TextBox 18"/>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Extraction keeps the source location of each field, so every value can be traced back to the document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PILLAR 2 · CROSS-CHECK</a:t>
            </a:r>
          </a:p>
        </p:txBody>
      </p:sp>
      <p:sp>
        <p:nvSpPr>
          <p:cNvPr id="4" name="TextBox 3"/>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It makes sure every document tells the same story</a:t>
            </a:r>
          </a:p>
        </p:txBody>
      </p:sp>
      <p:sp>
        <p:nvSpPr>
          <p:cNvPr id="5" name="TextBox 4"/>
          <p:cNvSpPr txBox="1"/>
          <p:nvPr/>
        </p:nvSpPr>
        <p:spPr>
          <a:xfrm>
            <a:off x="640080" y="2011680"/>
            <a:ext cx="5943600" cy="3108960"/>
          </a:xfrm>
          <a:prstGeom prst="rect">
            <a:avLst/>
          </a:prstGeom>
          <a:noFill/>
        </p:spPr>
        <p:txBody>
          <a:bodyPr wrap="square" anchor="t" lIns="0" rIns="0" tIns="0" bIns="0">
            <a:spAutoFit/>
          </a:bodyPr>
          <a:lstStyle/>
          <a:p>
            <a:pPr algn="l">
              <a:lnSpc>
                <a:spcPct val="120000"/>
              </a:lnSpc>
              <a:spcAft>
                <a:spcPts val="200"/>
              </a:spcAft>
            </a:pPr>
            <a:r>
              <a:rPr sz="1600" b="1" i="0">
                <a:solidFill>
                  <a:srgbClr val="EAF0FF"/>
                </a:solidFill>
                <a:latin typeface="Arial"/>
              </a:rPr>
              <a:t>A real company is consistent across all its papers. A fake one usually isn't.</a:t>
            </a:r>
          </a:p>
          <a:p>
            <a:pPr algn="l">
              <a:lnSpc>
                <a:spcPct val="120000"/>
              </a:lnSpc>
              <a:spcAft>
                <a:spcPts val="200"/>
              </a:spcAft>
            </a:pPr>
            <a:r>
              <a:rPr sz="500" b="0" i="0">
                <a:solidFill>
                  <a:srgbClr val="EAF0FF"/>
                </a:solidFill>
                <a:latin typeface="Arial"/>
              </a:rPr>
              <a:t/>
            </a:r>
          </a:p>
          <a:p>
            <a:pPr algn="l">
              <a:lnSpc>
                <a:spcPct val="120000"/>
              </a:lnSpc>
              <a:spcAft>
                <a:spcPts val="200"/>
              </a:spcAft>
            </a:pPr>
            <a:r>
              <a:rPr sz="1450" b="0" i="0">
                <a:solidFill>
                  <a:srgbClr val="93A1C0"/>
                </a:solidFill>
                <a:latin typeface="Arial"/>
              </a:rPr>
              <a:t>PRAMAAN checks that the name on the PAN matches the GST, the Udyam certificate and the company registration — and that the PAN hidden inside the GST number matches the declared PAN. Dates must be valid and not expired.</a:t>
            </a:r>
          </a:p>
          <a:p>
            <a:pPr algn="l">
              <a:lnSpc>
                <a:spcPct val="120000"/>
              </a:lnSpc>
              <a:spcAft>
                <a:spcPts val="200"/>
              </a:spcAft>
            </a:pPr>
            <a:r>
              <a:rPr sz="500" b="0" i="0">
                <a:solidFill>
                  <a:srgbClr val="EAF0FF"/>
                </a:solidFill>
                <a:latin typeface="Arial"/>
              </a:rPr>
              <a:t/>
            </a:r>
          </a:p>
          <a:p>
            <a:pPr algn="l">
              <a:lnSpc>
                <a:spcPct val="120000"/>
              </a:lnSpc>
              <a:spcAft>
                <a:spcPts val="200"/>
              </a:spcAft>
            </a:pPr>
            <a:r>
              <a:rPr sz="1450" b="0" i="0">
                <a:solidFill>
                  <a:srgbClr val="EAF0FF"/>
                </a:solidFill>
                <a:latin typeface="Arial"/>
              </a:rPr>
              <a:t>If anything disagrees, it's flagged with a severity and a reason.</a:t>
            </a:r>
          </a:p>
        </p:txBody>
      </p:sp>
      <p:sp>
        <p:nvSpPr>
          <p:cNvPr id="6" name="Rounded Rectangle 5"/>
          <p:cNvSpPr/>
          <p:nvPr/>
        </p:nvSpPr>
        <p:spPr>
          <a:xfrm>
            <a:off x="6858000" y="2011680"/>
            <a:ext cx="4663440" cy="196596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2240280"/>
            <a:ext cx="4114800" cy="365760"/>
          </a:xfrm>
          <a:prstGeom prst="rect">
            <a:avLst/>
          </a:prstGeom>
          <a:noFill/>
        </p:spPr>
        <p:txBody>
          <a:bodyPr wrap="square" anchor="t" lIns="0" rIns="0" tIns="0" bIns="0">
            <a:spAutoFit/>
          </a:bodyPr>
          <a:lstStyle/>
          <a:p>
            <a:pPr algn="l"/>
            <a:r>
              <a:rPr sz="1250" b="1" i="0">
                <a:solidFill>
                  <a:srgbClr val="31C8D6"/>
                </a:solidFill>
                <a:latin typeface="Arial"/>
              </a:rPr>
              <a:t>Example — PAN ↔ GST linkage</a:t>
            </a:r>
          </a:p>
        </p:txBody>
      </p:sp>
      <p:sp>
        <p:nvSpPr>
          <p:cNvPr id="8" name="TextBox 7"/>
          <p:cNvSpPr txBox="1"/>
          <p:nvPr/>
        </p:nvSpPr>
        <p:spPr>
          <a:xfrm>
            <a:off x="7178040" y="2697480"/>
            <a:ext cx="4114800" cy="457200"/>
          </a:xfrm>
          <a:prstGeom prst="rect">
            <a:avLst/>
          </a:prstGeom>
          <a:noFill/>
        </p:spPr>
        <p:txBody>
          <a:bodyPr wrap="square" anchor="t" lIns="0" rIns="0" tIns="0" bIns="0">
            <a:spAutoFit/>
          </a:bodyPr>
          <a:lstStyle/>
          <a:p>
            <a:pPr algn="l"/>
            <a:r>
              <a:rPr sz="1300" b="0" i="0">
                <a:solidFill>
                  <a:srgbClr val="93A1C0"/>
                </a:solidFill>
                <a:latin typeface="Courier New"/>
              </a:rPr>
              <a:t>GSTIN  27 </a:t>
            </a:r>
            <a:r>
              <a:rPr sz="1300" b="1" i="0">
                <a:solidFill>
                  <a:srgbClr val="34D399"/>
                </a:solidFill>
                <a:latin typeface="Courier New"/>
              </a:rPr>
              <a:t>AABCC1234C</a:t>
            </a:r>
            <a:r>
              <a:rPr sz="1300" b="0" i="0">
                <a:solidFill>
                  <a:srgbClr val="93A1C0"/>
                </a:solidFill>
                <a:latin typeface="Courier New"/>
              </a:rPr>
              <a:t> 1Z5</a:t>
            </a:r>
          </a:p>
        </p:txBody>
      </p:sp>
      <p:sp>
        <p:nvSpPr>
          <p:cNvPr id="9" name="TextBox 8"/>
          <p:cNvSpPr txBox="1"/>
          <p:nvPr/>
        </p:nvSpPr>
        <p:spPr>
          <a:xfrm>
            <a:off x="7178040" y="3127248"/>
            <a:ext cx="4114800" cy="365760"/>
          </a:xfrm>
          <a:prstGeom prst="rect">
            <a:avLst/>
          </a:prstGeom>
          <a:noFill/>
        </p:spPr>
        <p:txBody>
          <a:bodyPr wrap="square" anchor="t" lIns="0" rIns="0" tIns="0" bIns="0">
            <a:spAutoFit/>
          </a:bodyPr>
          <a:lstStyle/>
          <a:p>
            <a:pPr algn="l"/>
            <a:r>
              <a:rPr sz="1300" b="0" i="0">
                <a:solidFill>
                  <a:srgbClr val="93A1C0"/>
                </a:solidFill>
                <a:latin typeface="Courier New"/>
              </a:rPr>
              <a:t>declared PAN  </a:t>
            </a:r>
            <a:r>
              <a:rPr sz="1300" b="1" i="0">
                <a:solidFill>
                  <a:srgbClr val="34D399"/>
                </a:solidFill>
                <a:latin typeface="Courier New"/>
              </a:rPr>
              <a:t>AABCC1234C</a:t>
            </a:r>
          </a:p>
        </p:txBody>
      </p:sp>
      <p:sp>
        <p:nvSpPr>
          <p:cNvPr id="10" name="Rounded Rectangle 9"/>
          <p:cNvSpPr/>
          <p:nvPr/>
        </p:nvSpPr>
        <p:spPr>
          <a:xfrm>
            <a:off x="7178040" y="3566160"/>
            <a:ext cx="1554480" cy="310896"/>
          </a:xfrm>
          <a:prstGeom prst="roundRect">
            <a:avLst>
              <a:gd name="adj" fmla="val 50000"/>
            </a:avLst>
          </a:prstGeom>
          <a:solidFill>
            <a:srgbClr val="1036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34D399"/>
                </a:solidFill>
                <a:latin typeface="Arial"/>
              </a:rPr>
              <a:t>MATCH</a:t>
            </a:r>
          </a:p>
        </p:txBody>
      </p:sp>
      <p:sp>
        <p:nvSpPr>
          <p:cNvPr id="11" name="Rounded Rectangle 10"/>
          <p:cNvSpPr/>
          <p:nvPr/>
        </p:nvSpPr>
        <p:spPr>
          <a:xfrm>
            <a:off x="6858000" y="4114800"/>
            <a:ext cx="4663440" cy="100584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4261104"/>
            <a:ext cx="4114800" cy="365760"/>
          </a:xfrm>
          <a:prstGeom prst="rect">
            <a:avLst/>
          </a:prstGeom>
          <a:noFill/>
        </p:spPr>
        <p:txBody>
          <a:bodyPr wrap="square" anchor="t" lIns="0" rIns="0" tIns="0" bIns="0">
            <a:spAutoFit/>
          </a:bodyPr>
          <a:lstStyle/>
          <a:p>
            <a:pPr algn="l"/>
            <a:r>
              <a:rPr sz="1250" b="0" i="0">
                <a:solidFill>
                  <a:srgbClr val="93A1C0"/>
                </a:solidFill>
                <a:latin typeface="Arial"/>
              </a:rPr>
              <a:t>If they differ →</a:t>
            </a:r>
          </a:p>
        </p:txBody>
      </p:sp>
      <p:sp>
        <p:nvSpPr>
          <p:cNvPr id="13" name="Rounded Rectangle 12"/>
          <p:cNvSpPr/>
          <p:nvPr/>
        </p:nvSpPr>
        <p:spPr>
          <a:xfrm>
            <a:off x="7178040" y="4590288"/>
            <a:ext cx="3566160" cy="365760"/>
          </a:xfrm>
          <a:prstGeom prst="roundRect">
            <a:avLst>
              <a:gd name="adj" fmla="val 50000"/>
            </a:avLst>
          </a:prstGeom>
          <a:solidFill>
            <a:srgbClr val="3A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F87171"/>
                </a:solidFill>
                <a:latin typeface="Arial"/>
              </a:rPr>
              <a:t>CRITICAL: declared PAN does not match GSTIN</a:t>
            </a:r>
          </a:p>
        </p:txBody>
      </p:sp>
      <p:sp>
        <p:nvSpPr>
          <p:cNvPr id="14" name="TextBox 13"/>
          <p:cNvSpPr txBox="1"/>
          <p:nvPr/>
        </p:nvSpPr>
        <p:spPr>
          <a:xfrm>
            <a:off x="640080" y="5577840"/>
            <a:ext cx="10972800" cy="640080"/>
          </a:xfrm>
          <a:prstGeom prst="rect">
            <a:avLst/>
          </a:prstGeom>
          <a:noFill/>
        </p:spPr>
        <p:txBody>
          <a:bodyPr wrap="square" anchor="t" lIns="0" rIns="0" tIns="0" bIns="0">
            <a:spAutoFit/>
          </a:bodyPr>
          <a:lstStyle/>
          <a:p>
            <a:pPr algn="l">
              <a:lnSpc>
                <a:spcPct val="110000"/>
              </a:lnSpc>
            </a:pPr>
            <a:r>
              <a:rPr sz="1450" b="1" i="0">
                <a:solidFill>
                  <a:srgbClr val="EAF0FF"/>
                </a:solidFill>
                <a:latin typeface="Arial"/>
              </a:rPr>
              <a:t>Every flag links to the exact document, field, value, rule reference and a confidence score</a:t>
            </a:r>
            <a:r>
              <a:rPr sz="1450" b="0" i="0">
                <a:solidFill>
                  <a:srgbClr val="93A1C0"/>
                </a:solidFill>
                <a:latin typeface="Arial"/>
              </a:rPr>
              <a:t> — so the officer sees exactly why.</a:t>
            </a:r>
          </a:p>
        </p:txBody>
      </p:sp>
      <p:sp>
        <p:nvSpPr>
          <p:cNvPr id="15" name="TextBox 14"/>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This 'evidence contract' is what makes the AI explainable instead of a black box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PILLAR · CROSS-BIDDER INTEGRITY</a:t>
            </a:r>
          </a:p>
        </p:txBody>
      </p:sp>
      <p:sp>
        <p:nvSpPr>
          <p:cNvPr id="4" name="TextBox 3"/>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It catches bidders secretly working together</a:t>
            </a:r>
          </a:p>
        </p:txBody>
      </p:sp>
      <p:sp>
        <p:nvSpPr>
          <p:cNvPr id="5" name="TextBox 4"/>
          <p:cNvSpPr txBox="1"/>
          <p:nvPr/>
        </p:nvSpPr>
        <p:spPr>
          <a:xfrm>
            <a:off x="640080" y="1920240"/>
            <a:ext cx="5074920" cy="3200400"/>
          </a:xfrm>
          <a:prstGeom prst="rect">
            <a:avLst/>
          </a:prstGeom>
          <a:noFill/>
        </p:spPr>
        <p:txBody>
          <a:bodyPr wrap="square" anchor="t" lIns="0" rIns="0" tIns="0" bIns="0">
            <a:spAutoFit/>
          </a:bodyPr>
          <a:lstStyle/>
          <a:p>
            <a:pPr algn="l">
              <a:lnSpc>
                <a:spcPct val="115000"/>
              </a:lnSpc>
              <a:spcAft>
                <a:spcPts val="100"/>
              </a:spcAft>
            </a:pPr>
            <a:r>
              <a:rPr sz="1550" b="1" i="0">
                <a:solidFill>
                  <a:srgbClr val="EAF0FF"/>
                </a:solidFill>
                <a:latin typeface="Arial"/>
              </a:rPr>
              <a:t>Bid-rigging hides between bidders — not inside any one of them.</a:t>
            </a:r>
          </a:p>
          <a:p>
            <a:pPr algn="l">
              <a:lnSpc>
                <a:spcPct val="115000"/>
              </a:lnSpc>
              <a:spcAft>
                <a:spcPts val="100"/>
              </a:spcAft>
            </a:pPr>
            <a:r>
              <a:rPr sz="500" b="0" i="0">
                <a:solidFill>
                  <a:srgbClr val="EAF0FF"/>
                </a:solidFill>
                <a:latin typeface="Arial"/>
              </a:rPr>
              <a:t/>
            </a:r>
          </a:p>
          <a:p>
            <a:pPr algn="l">
              <a:lnSpc>
                <a:spcPct val="115000"/>
              </a:lnSpc>
              <a:spcAft>
                <a:spcPts val="100"/>
              </a:spcAft>
            </a:pPr>
            <a:r>
              <a:rPr sz="1400" b="0" i="0">
                <a:solidFill>
                  <a:srgbClr val="93A1C0"/>
                </a:solidFill>
                <a:latin typeface="Arial"/>
              </a:rPr>
              <a:t>PRAMAAN compares every bidder on the tender and links any that secretly share a PAN, GST number, bank account, phone, address, or authorised signatory — the fingerprints of front companies.</a:t>
            </a:r>
          </a:p>
          <a:p>
            <a:pPr algn="l">
              <a:lnSpc>
                <a:spcPct val="115000"/>
              </a:lnSpc>
              <a:spcAft>
                <a:spcPts val="100"/>
              </a:spcAft>
            </a:pPr>
            <a:r>
              <a:rPr sz="400" b="0" i="0">
                <a:solidFill>
                  <a:srgbClr val="EAF0FF"/>
                </a:solidFill>
                <a:latin typeface="Arial"/>
              </a:rPr>
              <a:t/>
            </a:r>
          </a:p>
          <a:p>
            <a:pPr algn="l">
              <a:lnSpc>
                <a:spcPct val="115000"/>
              </a:lnSpc>
              <a:spcAft>
                <a:spcPts val="100"/>
              </a:spcAft>
            </a:pPr>
            <a:r>
              <a:rPr sz="1300" b="0" i="0">
                <a:solidFill>
                  <a:srgbClr val="93A1C0"/>
                </a:solidFill>
                <a:latin typeface="Arial"/>
              </a:rPr>
              <a:t>Name and address matching is India-aware — 'Pvt. Ltd.' = 'Private Limited', and even transliterated names are caught.</a:t>
            </a:r>
          </a:p>
          <a:p>
            <a:pPr algn="l">
              <a:lnSpc>
                <a:spcPct val="115000"/>
              </a:lnSpc>
              <a:spcAft>
                <a:spcPts val="100"/>
              </a:spcAft>
            </a:pPr>
            <a:r>
              <a:rPr sz="400" b="0" i="0">
                <a:solidFill>
                  <a:srgbClr val="EAF0FF"/>
                </a:solidFill>
                <a:latin typeface="Arial"/>
              </a:rPr>
              <a:t/>
            </a:r>
          </a:p>
          <a:p>
            <a:pPr algn="l">
              <a:lnSpc>
                <a:spcPct val="115000"/>
              </a:lnSpc>
              <a:spcAft>
                <a:spcPts val="100"/>
              </a:spcAft>
            </a:pPr>
            <a:r>
              <a:rPr sz="1400" b="0" i="0">
                <a:solidFill>
                  <a:srgbClr val="EAF0FF"/>
                </a:solidFill>
                <a:latin typeface="Arial"/>
              </a:rPr>
              <a:t>Each front can look perfectly clean alone. Together, they don't.</a:t>
            </a:r>
          </a:p>
        </p:txBody>
      </p:sp>
      <p:sp>
        <p:nvSpPr>
          <p:cNvPr id="6" name="Rounded Rectangle 5"/>
          <p:cNvSpPr/>
          <p:nvPr/>
        </p:nvSpPr>
        <p:spPr>
          <a:xfrm>
            <a:off x="6126480" y="1965960"/>
            <a:ext cx="2487168" cy="960120"/>
          </a:xfrm>
          <a:prstGeom prst="roundRect">
            <a:avLst>
              <a:gd name="adj" fmla="val 6000"/>
            </a:avLst>
          </a:prstGeom>
          <a:solidFill>
            <a:srgbClr val="141B2E"/>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6792" y="2130552"/>
            <a:ext cx="2103120" cy="365760"/>
          </a:xfrm>
          <a:prstGeom prst="rect">
            <a:avLst/>
          </a:prstGeom>
          <a:noFill/>
        </p:spPr>
        <p:txBody>
          <a:bodyPr wrap="square" anchor="t" lIns="0" rIns="0" tIns="0" bIns="0">
            <a:spAutoFit/>
          </a:bodyPr>
          <a:lstStyle/>
          <a:p>
            <a:pPr algn="l"/>
            <a:r>
              <a:rPr sz="1250" b="1" i="0">
                <a:solidFill>
                  <a:srgbClr val="EAF0FF"/>
                </a:solidFill>
                <a:latin typeface="Arial"/>
              </a:rPr>
              <a:t>QuickSpares Trading</a:t>
            </a:r>
          </a:p>
        </p:txBody>
      </p:sp>
      <p:sp>
        <p:nvSpPr>
          <p:cNvPr id="8" name="TextBox 7"/>
          <p:cNvSpPr txBox="1"/>
          <p:nvPr/>
        </p:nvSpPr>
        <p:spPr>
          <a:xfrm>
            <a:off x="6336792" y="2496312"/>
            <a:ext cx="2103120" cy="365760"/>
          </a:xfrm>
          <a:prstGeom prst="rect">
            <a:avLst/>
          </a:prstGeom>
          <a:noFill/>
        </p:spPr>
        <p:txBody>
          <a:bodyPr wrap="square" anchor="t" lIns="0" rIns="0" tIns="0" bIns="0">
            <a:spAutoFit/>
          </a:bodyPr>
          <a:lstStyle/>
          <a:p>
            <a:pPr algn="l"/>
            <a:r>
              <a:rPr sz="1200" b="1" i="0">
                <a:solidFill>
                  <a:srgbClr val="34D399"/>
                </a:solidFill>
                <a:latin typeface="Arial"/>
              </a:rPr>
              <a:t>96.2 · looks clean</a:t>
            </a:r>
          </a:p>
        </p:txBody>
      </p:sp>
      <p:sp>
        <p:nvSpPr>
          <p:cNvPr id="9" name="Rounded Rectangle 8"/>
          <p:cNvSpPr/>
          <p:nvPr/>
        </p:nvSpPr>
        <p:spPr>
          <a:xfrm>
            <a:off x="9006840" y="1965960"/>
            <a:ext cx="2487168" cy="960120"/>
          </a:xfrm>
          <a:prstGeom prst="roundRect">
            <a:avLst>
              <a:gd name="adj" fmla="val 6000"/>
            </a:avLst>
          </a:prstGeom>
          <a:solidFill>
            <a:srgbClr val="141B2E"/>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17152" y="2130552"/>
            <a:ext cx="2103120" cy="365760"/>
          </a:xfrm>
          <a:prstGeom prst="rect">
            <a:avLst/>
          </a:prstGeom>
          <a:noFill/>
        </p:spPr>
        <p:txBody>
          <a:bodyPr wrap="square" anchor="t" lIns="0" rIns="0" tIns="0" bIns="0">
            <a:spAutoFit/>
          </a:bodyPr>
          <a:lstStyle/>
          <a:p>
            <a:pPr algn="l"/>
            <a:r>
              <a:rPr sz="1250" b="1" i="0">
                <a:solidFill>
                  <a:srgbClr val="EAF0FF"/>
                </a:solidFill>
                <a:latin typeface="Arial"/>
              </a:rPr>
              <a:t>FrontRunner Pumps</a:t>
            </a:r>
          </a:p>
        </p:txBody>
      </p:sp>
      <p:sp>
        <p:nvSpPr>
          <p:cNvPr id="11" name="TextBox 10"/>
          <p:cNvSpPr txBox="1"/>
          <p:nvPr/>
        </p:nvSpPr>
        <p:spPr>
          <a:xfrm>
            <a:off x="9217152" y="2496312"/>
            <a:ext cx="2103120" cy="365760"/>
          </a:xfrm>
          <a:prstGeom prst="rect">
            <a:avLst/>
          </a:prstGeom>
          <a:noFill/>
        </p:spPr>
        <p:txBody>
          <a:bodyPr wrap="square" anchor="t" lIns="0" rIns="0" tIns="0" bIns="0">
            <a:spAutoFit/>
          </a:bodyPr>
          <a:lstStyle/>
          <a:p>
            <a:pPr algn="l"/>
            <a:r>
              <a:rPr sz="1200" b="1" i="0">
                <a:solidFill>
                  <a:srgbClr val="FBBF24"/>
                </a:solidFill>
                <a:latin typeface="Arial"/>
              </a:rPr>
              <a:t>90.6 · looks clean</a:t>
            </a:r>
          </a:p>
        </p:txBody>
      </p:sp>
      <p:sp>
        <p:nvSpPr>
          <p:cNvPr id="12" name="Rectangle 11"/>
          <p:cNvSpPr/>
          <p:nvPr/>
        </p:nvSpPr>
        <p:spPr>
          <a:xfrm>
            <a:off x="8641080" y="2409444"/>
            <a:ext cx="384048" cy="54864"/>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6480" y="3200400"/>
            <a:ext cx="5367528" cy="1234440"/>
          </a:xfrm>
          <a:prstGeom prst="roundRect">
            <a:avLst>
              <a:gd name="adj" fmla="val 6000"/>
            </a:avLst>
          </a:prstGeom>
          <a:solidFill>
            <a:srgbClr val="3A1616"/>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319272"/>
            <a:ext cx="4937760" cy="320040"/>
          </a:xfrm>
          <a:prstGeom prst="rect">
            <a:avLst/>
          </a:prstGeom>
          <a:noFill/>
        </p:spPr>
        <p:txBody>
          <a:bodyPr wrap="square" anchor="t" lIns="0" rIns="0" tIns="0" bIns="0">
            <a:spAutoFit/>
          </a:bodyPr>
          <a:lstStyle/>
          <a:p>
            <a:pPr algn="l"/>
            <a:r>
              <a:rPr sz="1200" b="1" i="0">
                <a:solidFill>
                  <a:srgbClr val="F87171"/>
                </a:solidFill>
                <a:latin typeface="Arial"/>
              </a:rPr>
              <a:t>Shared — the hidden link</a:t>
            </a:r>
          </a:p>
        </p:txBody>
      </p:sp>
      <p:sp>
        <p:nvSpPr>
          <p:cNvPr id="15" name="TextBox 14"/>
          <p:cNvSpPr txBox="1"/>
          <p:nvPr/>
        </p:nvSpPr>
        <p:spPr>
          <a:xfrm>
            <a:off x="6355080" y="3675887"/>
            <a:ext cx="5029200" cy="320040"/>
          </a:xfrm>
          <a:prstGeom prst="rect">
            <a:avLst/>
          </a:prstGeom>
          <a:noFill/>
        </p:spPr>
        <p:txBody>
          <a:bodyPr wrap="square" anchor="t" lIns="0" rIns="0" tIns="0" bIns="0">
            <a:spAutoFit/>
          </a:bodyPr>
          <a:lstStyle/>
          <a:p>
            <a:pPr algn="l"/>
            <a:r>
              <a:rPr sz="1250" b="0" i="0">
                <a:solidFill>
                  <a:srgbClr val="93A1C0"/>
                </a:solidFill>
                <a:latin typeface="Arial"/>
              </a:rPr>
              <a:t>bank account   </a:t>
            </a:r>
            <a:r>
              <a:rPr sz="1250" b="1" i="0">
                <a:solidFill>
                  <a:srgbClr val="EAF0FF"/>
                </a:solidFill>
                <a:latin typeface="Courier New"/>
              </a:rPr>
              <a:t>HDFC50200012345678</a:t>
            </a:r>
          </a:p>
        </p:txBody>
      </p:sp>
      <p:sp>
        <p:nvSpPr>
          <p:cNvPr id="16" name="TextBox 15"/>
          <p:cNvSpPr txBox="1"/>
          <p:nvPr/>
        </p:nvSpPr>
        <p:spPr>
          <a:xfrm>
            <a:off x="6355080" y="4023360"/>
            <a:ext cx="5029200" cy="320040"/>
          </a:xfrm>
          <a:prstGeom prst="rect">
            <a:avLst/>
          </a:prstGeom>
          <a:noFill/>
        </p:spPr>
        <p:txBody>
          <a:bodyPr wrap="square" anchor="t" lIns="0" rIns="0" tIns="0" bIns="0">
            <a:spAutoFit/>
          </a:bodyPr>
          <a:lstStyle/>
          <a:p>
            <a:pPr algn="l"/>
            <a:r>
              <a:rPr sz="1250" b="0" i="0">
                <a:solidFill>
                  <a:srgbClr val="93A1C0"/>
                </a:solidFill>
                <a:latin typeface="Arial"/>
              </a:rPr>
              <a:t>signatory   </a:t>
            </a:r>
            <a:r>
              <a:rPr sz="1250" b="1" i="0">
                <a:solidFill>
                  <a:srgbClr val="EAF0FF"/>
                </a:solidFill>
                <a:latin typeface="Courier New"/>
              </a:rPr>
              <a:t>K. Verma</a:t>
            </a:r>
          </a:p>
        </p:txBody>
      </p:sp>
      <p:sp>
        <p:nvSpPr>
          <p:cNvPr id="17" name="Rounded Rectangle 16"/>
          <p:cNvSpPr/>
          <p:nvPr/>
        </p:nvSpPr>
        <p:spPr>
          <a:xfrm>
            <a:off x="6126480" y="4617720"/>
            <a:ext cx="2743200" cy="384048"/>
          </a:xfrm>
          <a:prstGeom prst="roundRect">
            <a:avLst>
              <a:gd name="adj" fmla="val 50000"/>
            </a:avLst>
          </a:prstGeom>
          <a:solidFill>
            <a:srgbClr val="3A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87171"/>
                </a:solidFill>
                <a:latin typeface="Arial"/>
              </a:rPr>
              <a:t>COLLUSION CLUSTER</a:t>
            </a:r>
          </a:p>
        </p:txBody>
      </p:sp>
      <p:sp>
        <p:nvSpPr>
          <p:cNvPr id="18" name="TextBox 17"/>
          <p:cNvSpPr txBox="1"/>
          <p:nvPr/>
        </p:nvSpPr>
        <p:spPr>
          <a:xfrm>
            <a:off x="9006840" y="4617720"/>
            <a:ext cx="2487168" cy="384048"/>
          </a:xfrm>
          <a:prstGeom prst="rect">
            <a:avLst/>
          </a:prstGeom>
          <a:noFill/>
        </p:spPr>
        <p:txBody>
          <a:bodyPr wrap="square" anchor="ctr" lIns="0" rIns="0" tIns="0" bIns="0">
            <a:spAutoFit/>
          </a:bodyPr>
          <a:lstStyle/>
          <a:p>
            <a:pPr algn="l"/>
            <a:r>
              <a:rPr sz="1100" b="0" i="0">
                <a:solidFill>
                  <a:srgbClr val="93A1C0"/>
                </a:solidFill>
                <a:latin typeface="Arial"/>
              </a:rPr>
              <a:t>flagged on the tender panel</a:t>
            </a:r>
          </a:p>
        </p:txBody>
      </p:sp>
      <p:sp>
        <p:nvSpPr>
          <p:cNvPr id="19" name="Rounded Rectangle 18"/>
          <p:cNvSpPr/>
          <p:nvPr/>
        </p:nvSpPr>
        <p:spPr>
          <a:xfrm>
            <a:off x="640080" y="5257800"/>
            <a:ext cx="10881360" cy="74980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58384"/>
            <a:ext cx="10332720" cy="566928"/>
          </a:xfrm>
          <a:prstGeom prst="rect">
            <a:avLst/>
          </a:prstGeom>
          <a:noFill/>
        </p:spPr>
        <p:txBody>
          <a:bodyPr wrap="square" anchor="ctr" lIns="0" rIns="0" tIns="0" bIns="0">
            <a:spAutoFit/>
          </a:bodyPr>
          <a:lstStyle/>
          <a:p>
            <a:pPr algn="l">
              <a:lnSpc>
                <a:spcPct val="105000"/>
              </a:lnSpc>
            </a:pPr>
            <a:r>
              <a:rPr sz="1500" b="1" i="0">
                <a:solidFill>
                  <a:srgbClr val="EAF0FF"/>
                </a:solidFill>
                <a:latin typeface="Arial"/>
              </a:rPr>
              <a:t>Naive tools check each bidder in isolation. </a:t>
            </a:r>
            <a:r>
              <a:rPr sz="1500" b="1" i="0">
                <a:solidFill>
                  <a:srgbClr val="31C8D6"/>
                </a:solidFill>
                <a:latin typeface="Arial"/>
              </a:rPr>
              <a:t>Real bid-rigging only appears when you look across them.</a:t>
            </a:r>
          </a:p>
        </p:txBody>
      </p:sp>
      <p:sp>
        <p:nvSpPr>
          <p:cNvPr id="21" name="TextBox 20"/>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Union-find graph over shared identifiers · rule_ref XVERIFY/collusion · deterministic and fully offline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69680" y="-1737360"/>
            <a:ext cx="4754880" cy="4754880"/>
          </a:xfrm>
          <a:prstGeom prst="ellipse">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PILLAR 3 · THE MOAT</a:t>
            </a:r>
          </a:p>
        </p:txBody>
      </p:sp>
      <p:sp>
        <p:nvSpPr>
          <p:cNvPr id="5" name="TextBox 4"/>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It catches forged and tampered certificates</a:t>
            </a:r>
          </a:p>
        </p:txBody>
      </p:sp>
      <p:sp>
        <p:nvSpPr>
          <p:cNvPr id="6" name="Rounded Rectangle 5"/>
          <p:cNvSpPr/>
          <p:nvPr/>
        </p:nvSpPr>
        <p:spPr>
          <a:xfrm>
            <a:off x="640080" y="2103120"/>
            <a:ext cx="5394960" cy="2331720"/>
          </a:xfrm>
          <a:prstGeom prst="roundRect">
            <a:avLst>
              <a:gd name="adj" fmla="val 6000"/>
            </a:avLst>
          </a:prstGeom>
          <a:solidFill>
            <a:srgbClr val="141B2E"/>
          </a:solidFill>
          <a:ln w="1587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9264" y="2468879"/>
            <a:ext cx="329184" cy="329184"/>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999232"/>
            <a:ext cx="4754880" cy="548640"/>
          </a:xfrm>
          <a:prstGeom prst="rect">
            <a:avLst/>
          </a:prstGeom>
          <a:noFill/>
        </p:spPr>
        <p:txBody>
          <a:bodyPr wrap="square" anchor="t" lIns="0" rIns="0" tIns="0" bIns="0">
            <a:spAutoFit/>
          </a:bodyPr>
          <a:lstStyle/>
          <a:p>
            <a:pPr algn="l"/>
            <a:r>
              <a:rPr sz="1800" b="1" i="0">
                <a:solidFill>
                  <a:srgbClr val="EAF0FF"/>
                </a:solidFill>
                <a:latin typeface="Arial"/>
              </a:rPr>
              <a:t>Digital-signature check</a:t>
            </a:r>
          </a:p>
        </p:txBody>
      </p:sp>
      <p:sp>
        <p:nvSpPr>
          <p:cNvPr id="9" name="TextBox 8"/>
          <p:cNvSpPr txBox="1"/>
          <p:nvPr/>
        </p:nvSpPr>
        <p:spPr>
          <a:xfrm>
            <a:off x="969264" y="3520439"/>
            <a:ext cx="4754880" cy="822960"/>
          </a:xfrm>
          <a:prstGeom prst="rect">
            <a:avLst/>
          </a:prstGeom>
          <a:noFill/>
        </p:spPr>
        <p:txBody>
          <a:bodyPr wrap="square" anchor="t" lIns="0" rIns="0" tIns="0" bIns="0">
            <a:spAutoFit/>
          </a:bodyPr>
          <a:lstStyle/>
          <a:p>
            <a:pPr algn="l">
              <a:lnSpc>
                <a:spcPct val="118000"/>
              </a:lnSpc>
            </a:pPr>
            <a:r>
              <a:rPr sz="1350" b="0" i="0">
                <a:solidFill>
                  <a:srgbClr val="93A1C0"/>
                </a:solidFill>
                <a:latin typeface="Arial"/>
              </a:rPr>
              <a:t>Confirms a document was really signed by the issuer (DigiLocker-style PKI), the certificate is trusted, and the signature still covers the content.</a:t>
            </a:r>
          </a:p>
        </p:txBody>
      </p:sp>
      <p:sp>
        <p:nvSpPr>
          <p:cNvPr id="10" name="Rounded Rectangle 9"/>
          <p:cNvSpPr/>
          <p:nvPr/>
        </p:nvSpPr>
        <p:spPr>
          <a:xfrm>
            <a:off x="6400800" y="2103120"/>
            <a:ext cx="5394960" cy="2331720"/>
          </a:xfrm>
          <a:prstGeom prst="roundRect">
            <a:avLst>
              <a:gd name="adj" fmla="val 6000"/>
            </a:avLst>
          </a:prstGeom>
          <a:solidFill>
            <a:srgbClr val="141B2E"/>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729984" y="2468879"/>
            <a:ext cx="329184" cy="329184"/>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9984" y="2999232"/>
            <a:ext cx="4754880" cy="548640"/>
          </a:xfrm>
          <a:prstGeom prst="rect">
            <a:avLst/>
          </a:prstGeom>
          <a:noFill/>
        </p:spPr>
        <p:txBody>
          <a:bodyPr wrap="square" anchor="t" lIns="0" rIns="0" tIns="0" bIns="0">
            <a:spAutoFit/>
          </a:bodyPr>
          <a:lstStyle/>
          <a:p>
            <a:pPr algn="l"/>
            <a:r>
              <a:rPr sz="1800" b="1" i="0">
                <a:solidFill>
                  <a:srgbClr val="EAF0FF"/>
                </a:solidFill>
                <a:latin typeface="Arial"/>
              </a:rPr>
              <a:t>Tamper / forgery detection</a:t>
            </a:r>
          </a:p>
        </p:txBody>
      </p:sp>
      <p:sp>
        <p:nvSpPr>
          <p:cNvPr id="13" name="TextBox 12"/>
          <p:cNvSpPr txBox="1"/>
          <p:nvPr/>
        </p:nvSpPr>
        <p:spPr>
          <a:xfrm>
            <a:off x="6729984" y="3520439"/>
            <a:ext cx="4754880" cy="822960"/>
          </a:xfrm>
          <a:prstGeom prst="rect">
            <a:avLst/>
          </a:prstGeom>
          <a:noFill/>
        </p:spPr>
        <p:txBody>
          <a:bodyPr wrap="square" anchor="t" lIns="0" rIns="0" tIns="0" bIns="0">
            <a:spAutoFit/>
          </a:bodyPr>
          <a:lstStyle/>
          <a:p>
            <a:pPr algn="l">
              <a:lnSpc>
                <a:spcPct val="118000"/>
              </a:lnSpc>
            </a:pPr>
            <a:r>
              <a:rPr sz="1350" b="0" i="0">
                <a:solidFill>
                  <a:srgbClr val="93A1C0"/>
                </a:solidFill>
                <a:latin typeface="Arial"/>
              </a:rPr>
              <a:t>Spots documents edited after signing: extra hidden revisions, a modified date later than the signature time, and forge-tool fingerprints in the file.</a:t>
            </a:r>
          </a:p>
        </p:txBody>
      </p:sp>
      <p:sp>
        <p:nvSpPr>
          <p:cNvPr id="14" name="Rounded Rectangle 13"/>
          <p:cNvSpPr/>
          <p:nvPr/>
        </p:nvSpPr>
        <p:spPr>
          <a:xfrm>
            <a:off x="640080" y="4892040"/>
            <a:ext cx="10881360" cy="868680"/>
          </a:xfrm>
          <a:prstGeom prst="roundRect">
            <a:avLst>
              <a:gd name="adj" fmla="val 6000"/>
            </a:avLst>
          </a:prstGeom>
          <a:solidFill>
            <a:srgbClr val="3A1616"/>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92624"/>
            <a:ext cx="10332720" cy="685800"/>
          </a:xfrm>
          <a:prstGeom prst="rect">
            <a:avLst/>
          </a:prstGeom>
          <a:noFill/>
        </p:spPr>
        <p:txBody>
          <a:bodyPr wrap="square" anchor="ctr" lIns="0" rIns="0" tIns="0" bIns="0">
            <a:spAutoFit/>
          </a:bodyPr>
          <a:lstStyle/>
          <a:p>
            <a:pPr algn="l">
              <a:lnSpc>
                <a:spcPct val="110000"/>
              </a:lnSpc>
            </a:pPr>
            <a:r>
              <a:rPr sz="1550" b="1" i="0">
                <a:solidFill>
                  <a:srgbClr val="EAF0FF"/>
                </a:solidFill>
                <a:latin typeface="Arial"/>
              </a:rPr>
              <a:t>This is what generic bid tools don't do — </a:t>
            </a:r>
            <a:r>
              <a:rPr sz="1550" b="1" i="0">
                <a:solidFill>
                  <a:srgbClr val="F87171"/>
                </a:solidFill>
                <a:latin typeface="Arial"/>
              </a:rPr>
              <a:t>and exactly what a determined fraudster relies on going unnoticed.</a:t>
            </a:r>
          </a:p>
        </p:txBody>
      </p:sp>
      <p:sp>
        <p:nvSpPr>
          <p:cNvPr id="16" name="TextBox 15"/>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Built on real PKI (pyHanko) and PDF structure analysis (pikepdf / pdfplumber) — not a checkbox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PILLAR 4 · TRUST</a:t>
            </a:r>
          </a:p>
        </p:txBody>
      </p:sp>
      <p:sp>
        <p:nvSpPr>
          <p:cNvPr id="4" name="TextBox 3"/>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Every action is locked into a tamper-evident log</a:t>
            </a:r>
          </a:p>
        </p:txBody>
      </p:sp>
      <p:sp>
        <p:nvSpPr>
          <p:cNvPr id="5" name="TextBox 4"/>
          <p:cNvSpPr txBox="1"/>
          <p:nvPr/>
        </p:nvSpPr>
        <p:spPr>
          <a:xfrm>
            <a:off x="640080" y="2057400"/>
            <a:ext cx="5852160" cy="2926080"/>
          </a:xfrm>
          <a:prstGeom prst="rect">
            <a:avLst/>
          </a:prstGeom>
          <a:noFill/>
        </p:spPr>
        <p:txBody>
          <a:bodyPr wrap="square" anchor="t" lIns="0" rIns="0" tIns="0" bIns="0">
            <a:spAutoFit/>
          </a:bodyPr>
          <a:lstStyle/>
          <a:p>
            <a:pPr algn="l">
              <a:lnSpc>
                <a:spcPct val="120000"/>
              </a:lnSpc>
              <a:spcAft>
                <a:spcPts val="200"/>
              </a:spcAft>
            </a:pPr>
            <a:r>
              <a:rPr sz="1600" b="0" i="0">
                <a:solidFill>
                  <a:srgbClr val="EAF0FF"/>
                </a:solidFill>
                <a:latin typeface="Arial"/>
              </a:rPr>
              <a:t>Each event is chained to the one before it using a cryptographic hash (like a sealed ledger).</a:t>
            </a:r>
          </a:p>
          <a:p>
            <a:pPr algn="l">
              <a:lnSpc>
                <a:spcPct val="120000"/>
              </a:lnSpc>
              <a:spcAft>
                <a:spcPts val="200"/>
              </a:spcAft>
            </a:pPr>
            <a:r>
              <a:rPr sz="600" b="0" i="0">
                <a:solidFill>
                  <a:srgbClr val="EAF0FF"/>
                </a:solidFill>
                <a:latin typeface="Arial"/>
              </a:rPr>
              <a:t/>
            </a:r>
          </a:p>
          <a:p>
            <a:pPr algn="l">
              <a:lnSpc>
                <a:spcPct val="120000"/>
              </a:lnSpc>
              <a:spcAft>
                <a:spcPts val="200"/>
              </a:spcAft>
            </a:pPr>
            <a:r>
              <a:rPr sz="1500" b="0" i="0">
                <a:solidFill>
                  <a:srgbClr val="93A1C0"/>
                </a:solidFill>
                <a:latin typeface="Arial"/>
              </a:rPr>
              <a:t>Change or delete one record and the chain breaks — and the system tells you exactly which link failed. One click re-verifies the entire chain.</a:t>
            </a:r>
          </a:p>
          <a:p>
            <a:pPr algn="l">
              <a:lnSpc>
                <a:spcPct val="120000"/>
              </a:lnSpc>
              <a:spcAft>
                <a:spcPts val="200"/>
              </a:spcAft>
            </a:pPr>
            <a:r>
              <a:rPr sz="600" b="0" i="0">
                <a:solidFill>
                  <a:srgbClr val="EAF0FF"/>
                </a:solidFill>
                <a:latin typeface="Arial"/>
              </a:rPr>
              <a:t/>
            </a:r>
          </a:p>
          <a:p>
            <a:pPr algn="l">
              <a:lnSpc>
                <a:spcPct val="120000"/>
              </a:lnSpc>
              <a:spcAft>
                <a:spcPts val="200"/>
              </a:spcAft>
            </a:pPr>
            <a:r>
              <a:rPr sz="1600" b="1" i="0">
                <a:solidFill>
                  <a:srgbClr val="31C8D6"/>
                </a:solidFill>
                <a:latin typeface="Arial"/>
              </a:rPr>
              <a:t>You can prove the record was never quietly edited.</a:t>
            </a:r>
          </a:p>
        </p:txBody>
      </p:sp>
      <p:sp>
        <p:nvSpPr>
          <p:cNvPr id="6" name="Rounded Rectangle 5"/>
          <p:cNvSpPr/>
          <p:nvPr/>
        </p:nvSpPr>
        <p:spPr>
          <a:xfrm>
            <a:off x="6858000" y="2148840"/>
            <a:ext cx="4572000" cy="65836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059168" y="2377440"/>
            <a:ext cx="201168" cy="201168"/>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4927" y="2148840"/>
            <a:ext cx="1097280" cy="658368"/>
          </a:xfrm>
          <a:prstGeom prst="rect">
            <a:avLst/>
          </a:prstGeom>
          <a:noFill/>
        </p:spPr>
        <p:txBody>
          <a:bodyPr wrap="square" anchor="ctr" lIns="0" rIns="0" tIns="0" bIns="0">
            <a:spAutoFit/>
          </a:bodyPr>
          <a:lstStyle/>
          <a:p>
            <a:pPr algn="l"/>
            <a:r>
              <a:rPr sz="1250" b="1" i="0">
                <a:solidFill>
                  <a:srgbClr val="93A1C0"/>
                </a:solidFill>
                <a:latin typeface="Courier New"/>
              </a:rPr>
              <a:t>seq 1</a:t>
            </a:r>
          </a:p>
        </p:txBody>
      </p:sp>
      <p:sp>
        <p:nvSpPr>
          <p:cNvPr id="9" name="TextBox 8"/>
          <p:cNvSpPr txBox="1"/>
          <p:nvPr/>
        </p:nvSpPr>
        <p:spPr>
          <a:xfrm>
            <a:off x="8549640" y="2148840"/>
            <a:ext cx="2011680" cy="658368"/>
          </a:xfrm>
          <a:prstGeom prst="rect">
            <a:avLst/>
          </a:prstGeom>
          <a:noFill/>
        </p:spPr>
        <p:txBody>
          <a:bodyPr wrap="square" anchor="ctr" lIns="0" rIns="0" tIns="0" bIns="0">
            <a:spAutoFit/>
          </a:bodyPr>
          <a:lstStyle/>
          <a:p>
            <a:pPr algn="l"/>
            <a:r>
              <a:rPr sz="1300" b="1" i="0">
                <a:solidFill>
                  <a:srgbClr val="EAF0FF"/>
                </a:solidFill>
                <a:latin typeface="Arial"/>
              </a:rPr>
              <a:t>upload docs</a:t>
            </a:r>
          </a:p>
        </p:txBody>
      </p:sp>
      <p:sp>
        <p:nvSpPr>
          <p:cNvPr id="10" name="TextBox 9"/>
          <p:cNvSpPr txBox="1"/>
          <p:nvPr/>
        </p:nvSpPr>
        <p:spPr>
          <a:xfrm>
            <a:off x="10424160" y="2148840"/>
            <a:ext cx="868680" cy="658368"/>
          </a:xfrm>
          <a:prstGeom prst="rect">
            <a:avLst/>
          </a:prstGeom>
          <a:noFill/>
        </p:spPr>
        <p:txBody>
          <a:bodyPr wrap="square" anchor="ctr" lIns="0" rIns="0" tIns="0" bIns="0">
            <a:spAutoFit/>
          </a:bodyPr>
          <a:lstStyle/>
          <a:p>
            <a:pPr algn="r"/>
            <a:r>
              <a:rPr sz="1150" b="1" i="0">
                <a:solidFill>
                  <a:srgbClr val="34D399"/>
                </a:solidFill>
                <a:latin typeface="Courier New"/>
              </a:rPr>
              <a:t>hash ✓</a:t>
            </a:r>
          </a:p>
        </p:txBody>
      </p:sp>
      <p:sp>
        <p:nvSpPr>
          <p:cNvPr id="11" name="Rounded Rectangle 10"/>
          <p:cNvSpPr/>
          <p:nvPr/>
        </p:nvSpPr>
        <p:spPr>
          <a:xfrm>
            <a:off x="6858000" y="2953512"/>
            <a:ext cx="4572000" cy="65836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059168" y="3182112"/>
            <a:ext cx="201168" cy="201168"/>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2953512"/>
            <a:ext cx="1097280" cy="658368"/>
          </a:xfrm>
          <a:prstGeom prst="rect">
            <a:avLst/>
          </a:prstGeom>
          <a:noFill/>
        </p:spPr>
        <p:txBody>
          <a:bodyPr wrap="square" anchor="ctr" lIns="0" rIns="0" tIns="0" bIns="0">
            <a:spAutoFit/>
          </a:bodyPr>
          <a:lstStyle/>
          <a:p>
            <a:pPr algn="l"/>
            <a:r>
              <a:rPr sz="1250" b="1" i="0">
                <a:solidFill>
                  <a:srgbClr val="93A1C0"/>
                </a:solidFill>
                <a:latin typeface="Courier New"/>
              </a:rPr>
              <a:t>seq 2</a:t>
            </a:r>
          </a:p>
        </p:txBody>
      </p:sp>
      <p:sp>
        <p:nvSpPr>
          <p:cNvPr id="14" name="TextBox 13"/>
          <p:cNvSpPr txBox="1"/>
          <p:nvPr/>
        </p:nvSpPr>
        <p:spPr>
          <a:xfrm>
            <a:off x="8549640" y="2953512"/>
            <a:ext cx="2011680" cy="658368"/>
          </a:xfrm>
          <a:prstGeom prst="rect">
            <a:avLst/>
          </a:prstGeom>
          <a:noFill/>
        </p:spPr>
        <p:txBody>
          <a:bodyPr wrap="square" anchor="ctr" lIns="0" rIns="0" tIns="0" bIns="0">
            <a:spAutoFit/>
          </a:bodyPr>
          <a:lstStyle/>
          <a:p>
            <a:pPr algn="l"/>
            <a:r>
              <a:rPr sz="1300" b="1" i="0">
                <a:solidFill>
                  <a:srgbClr val="EAF0FF"/>
                </a:solidFill>
                <a:latin typeface="Arial"/>
              </a:rPr>
              <a:t>assess bidder</a:t>
            </a:r>
          </a:p>
        </p:txBody>
      </p:sp>
      <p:sp>
        <p:nvSpPr>
          <p:cNvPr id="15" name="TextBox 14"/>
          <p:cNvSpPr txBox="1"/>
          <p:nvPr/>
        </p:nvSpPr>
        <p:spPr>
          <a:xfrm>
            <a:off x="10424160" y="2953512"/>
            <a:ext cx="868680" cy="658368"/>
          </a:xfrm>
          <a:prstGeom prst="rect">
            <a:avLst/>
          </a:prstGeom>
          <a:noFill/>
        </p:spPr>
        <p:txBody>
          <a:bodyPr wrap="square" anchor="ctr" lIns="0" rIns="0" tIns="0" bIns="0">
            <a:spAutoFit/>
          </a:bodyPr>
          <a:lstStyle/>
          <a:p>
            <a:pPr algn="r"/>
            <a:r>
              <a:rPr sz="1150" b="1" i="0">
                <a:solidFill>
                  <a:srgbClr val="34D399"/>
                </a:solidFill>
                <a:latin typeface="Courier New"/>
              </a:rPr>
              <a:t>hash ✓</a:t>
            </a:r>
          </a:p>
        </p:txBody>
      </p:sp>
      <p:sp>
        <p:nvSpPr>
          <p:cNvPr id="16" name="Rounded Rectangle 15"/>
          <p:cNvSpPr/>
          <p:nvPr/>
        </p:nvSpPr>
        <p:spPr>
          <a:xfrm>
            <a:off x="6858000" y="3758184"/>
            <a:ext cx="4572000" cy="65836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59168" y="3986784"/>
            <a:ext cx="201168" cy="201168"/>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4927" y="3758184"/>
            <a:ext cx="1097280" cy="658368"/>
          </a:xfrm>
          <a:prstGeom prst="rect">
            <a:avLst/>
          </a:prstGeom>
          <a:noFill/>
        </p:spPr>
        <p:txBody>
          <a:bodyPr wrap="square" anchor="ctr" lIns="0" rIns="0" tIns="0" bIns="0">
            <a:spAutoFit/>
          </a:bodyPr>
          <a:lstStyle/>
          <a:p>
            <a:pPr algn="l"/>
            <a:r>
              <a:rPr sz="1250" b="1" i="0">
                <a:solidFill>
                  <a:srgbClr val="93A1C0"/>
                </a:solidFill>
                <a:latin typeface="Courier New"/>
              </a:rPr>
              <a:t>seq 3</a:t>
            </a:r>
          </a:p>
        </p:txBody>
      </p:sp>
      <p:sp>
        <p:nvSpPr>
          <p:cNvPr id="19" name="TextBox 18"/>
          <p:cNvSpPr txBox="1"/>
          <p:nvPr/>
        </p:nvSpPr>
        <p:spPr>
          <a:xfrm>
            <a:off x="8549640" y="3758184"/>
            <a:ext cx="2011680" cy="658368"/>
          </a:xfrm>
          <a:prstGeom prst="rect">
            <a:avLst/>
          </a:prstGeom>
          <a:noFill/>
        </p:spPr>
        <p:txBody>
          <a:bodyPr wrap="square" anchor="ctr" lIns="0" rIns="0" tIns="0" bIns="0">
            <a:spAutoFit/>
          </a:bodyPr>
          <a:lstStyle/>
          <a:p>
            <a:pPr algn="l"/>
            <a:r>
              <a:rPr sz="1300" b="1" i="0">
                <a:solidFill>
                  <a:srgbClr val="EAF0FF"/>
                </a:solidFill>
                <a:latin typeface="Arial"/>
              </a:rPr>
              <a:t>officer decision</a:t>
            </a:r>
          </a:p>
        </p:txBody>
      </p:sp>
      <p:sp>
        <p:nvSpPr>
          <p:cNvPr id="20" name="TextBox 19"/>
          <p:cNvSpPr txBox="1"/>
          <p:nvPr/>
        </p:nvSpPr>
        <p:spPr>
          <a:xfrm>
            <a:off x="10424160" y="3758184"/>
            <a:ext cx="868680" cy="658368"/>
          </a:xfrm>
          <a:prstGeom prst="rect">
            <a:avLst/>
          </a:prstGeom>
          <a:noFill/>
        </p:spPr>
        <p:txBody>
          <a:bodyPr wrap="square" anchor="ctr" lIns="0" rIns="0" tIns="0" bIns="0">
            <a:spAutoFit/>
          </a:bodyPr>
          <a:lstStyle/>
          <a:p>
            <a:pPr algn="r"/>
            <a:r>
              <a:rPr sz="1150" b="1" i="0">
                <a:solidFill>
                  <a:srgbClr val="34D399"/>
                </a:solidFill>
                <a:latin typeface="Courier New"/>
              </a:rPr>
              <a:t>hash ✓</a:t>
            </a:r>
          </a:p>
        </p:txBody>
      </p:sp>
      <p:sp>
        <p:nvSpPr>
          <p:cNvPr id="21" name="Rounded Rectangle 20"/>
          <p:cNvSpPr/>
          <p:nvPr/>
        </p:nvSpPr>
        <p:spPr>
          <a:xfrm>
            <a:off x="6858000" y="4562856"/>
            <a:ext cx="4572000" cy="65836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059168" y="4791456"/>
            <a:ext cx="201168" cy="201168"/>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24927" y="4562856"/>
            <a:ext cx="1097280" cy="658368"/>
          </a:xfrm>
          <a:prstGeom prst="rect">
            <a:avLst/>
          </a:prstGeom>
          <a:noFill/>
        </p:spPr>
        <p:txBody>
          <a:bodyPr wrap="square" anchor="ctr" lIns="0" rIns="0" tIns="0" bIns="0">
            <a:spAutoFit/>
          </a:bodyPr>
          <a:lstStyle/>
          <a:p>
            <a:pPr algn="l"/>
            <a:r>
              <a:rPr sz="1250" b="1" i="0">
                <a:solidFill>
                  <a:srgbClr val="93A1C0"/>
                </a:solidFill>
                <a:latin typeface="Courier New"/>
              </a:rPr>
              <a:t>seq 4</a:t>
            </a:r>
          </a:p>
        </p:txBody>
      </p:sp>
      <p:sp>
        <p:nvSpPr>
          <p:cNvPr id="24" name="TextBox 23"/>
          <p:cNvSpPr txBox="1"/>
          <p:nvPr/>
        </p:nvSpPr>
        <p:spPr>
          <a:xfrm>
            <a:off x="8549640" y="4562856"/>
            <a:ext cx="2011680" cy="658368"/>
          </a:xfrm>
          <a:prstGeom prst="rect">
            <a:avLst/>
          </a:prstGeom>
          <a:noFill/>
        </p:spPr>
        <p:txBody>
          <a:bodyPr wrap="square" anchor="ctr" lIns="0" rIns="0" tIns="0" bIns="0">
            <a:spAutoFit/>
          </a:bodyPr>
          <a:lstStyle/>
          <a:p>
            <a:pPr algn="l"/>
            <a:r>
              <a:rPr sz="1300" b="1" i="0">
                <a:solidFill>
                  <a:srgbClr val="EAF0FF"/>
                </a:solidFill>
                <a:latin typeface="Arial"/>
              </a:rPr>
              <a:t>export report</a:t>
            </a:r>
          </a:p>
        </p:txBody>
      </p:sp>
      <p:sp>
        <p:nvSpPr>
          <p:cNvPr id="25" name="TextBox 24"/>
          <p:cNvSpPr txBox="1"/>
          <p:nvPr/>
        </p:nvSpPr>
        <p:spPr>
          <a:xfrm>
            <a:off x="10424160" y="4562856"/>
            <a:ext cx="868680" cy="658368"/>
          </a:xfrm>
          <a:prstGeom prst="rect">
            <a:avLst/>
          </a:prstGeom>
          <a:noFill/>
        </p:spPr>
        <p:txBody>
          <a:bodyPr wrap="square" anchor="ctr" lIns="0" rIns="0" tIns="0" bIns="0">
            <a:spAutoFit/>
          </a:bodyPr>
          <a:lstStyle/>
          <a:p>
            <a:pPr algn="r"/>
            <a:r>
              <a:rPr sz="1150" b="1" i="0">
                <a:solidFill>
                  <a:srgbClr val="34D399"/>
                </a:solidFill>
                <a:latin typeface="Courier New"/>
              </a:rPr>
              <a:t>hash ✓</a:t>
            </a:r>
          </a:p>
        </p:txBody>
      </p:sp>
      <p:sp>
        <p:nvSpPr>
          <p:cNvPr id="26" name="TextBox 25"/>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this_hash = H( seq | actor | action | entity | payload | previous_hash )   ·   /audit/verify recomputes the chain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PILLAR 5 · FLEXIBILITY</a:t>
            </a:r>
          </a:p>
        </p:txBody>
      </p:sp>
      <p:sp>
        <p:nvSpPr>
          <p:cNvPr id="4" name="TextBox 3"/>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Rules are settings, not code</a:t>
            </a:r>
          </a:p>
        </p:txBody>
      </p:sp>
      <p:sp>
        <p:nvSpPr>
          <p:cNvPr id="5" name="TextBox 4"/>
          <p:cNvSpPr txBox="1"/>
          <p:nvPr/>
        </p:nvSpPr>
        <p:spPr>
          <a:xfrm>
            <a:off x="640080" y="2057400"/>
            <a:ext cx="5760720" cy="2926080"/>
          </a:xfrm>
          <a:prstGeom prst="rect">
            <a:avLst/>
          </a:prstGeom>
          <a:noFill/>
        </p:spPr>
        <p:txBody>
          <a:bodyPr wrap="square" anchor="t" lIns="0" rIns="0" tIns="0" bIns="0">
            <a:spAutoFit/>
          </a:bodyPr>
          <a:lstStyle/>
          <a:p>
            <a:pPr algn="l">
              <a:lnSpc>
                <a:spcPct val="120000"/>
              </a:lnSpc>
              <a:spcAft>
                <a:spcPts val="200"/>
              </a:spcAft>
            </a:pPr>
            <a:r>
              <a:rPr sz="1600" b="0" i="0">
                <a:solidFill>
                  <a:srgbClr val="EAF0FF"/>
                </a:solidFill>
                <a:latin typeface="Arial"/>
              </a:rPr>
              <a:t>The thresholds that decide pass or fail live in an editable rule file — not buried in the software.</a:t>
            </a:r>
          </a:p>
          <a:p>
            <a:pPr algn="l">
              <a:lnSpc>
                <a:spcPct val="120000"/>
              </a:lnSpc>
              <a:spcAft>
                <a:spcPts val="200"/>
              </a:spcAft>
            </a:pPr>
            <a:r>
              <a:rPr sz="600" b="0" i="0">
                <a:solidFill>
                  <a:srgbClr val="EAF0FF"/>
                </a:solidFill>
                <a:latin typeface="Arial"/>
              </a:rPr>
              <a:t/>
            </a:r>
          </a:p>
          <a:p>
            <a:pPr algn="l">
              <a:lnSpc>
                <a:spcPct val="120000"/>
              </a:lnSpc>
              <a:spcAft>
                <a:spcPts val="200"/>
              </a:spcAft>
            </a:pPr>
            <a:r>
              <a:rPr sz="1500" b="0" i="0">
                <a:solidFill>
                  <a:srgbClr val="93A1C0"/>
                </a:solidFill>
                <a:latin typeface="Arial"/>
              </a:rPr>
              <a:t>MSME size limits · minimum local-content % for Class I / II · GST filing grace period · blacklist match sensitivity · scoring weights.</a:t>
            </a:r>
          </a:p>
          <a:p>
            <a:pPr algn="l">
              <a:lnSpc>
                <a:spcPct val="120000"/>
              </a:lnSpc>
              <a:spcAft>
                <a:spcPts val="200"/>
              </a:spcAft>
            </a:pPr>
            <a:r>
              <a:rPr sz="600" b="0" i="0">
                <a:solidFill>
                  <a:srgbClr val="EAF0FF"/>
                </a:solidFill>
                <a:latin typeface="Arial"/>
              </a:rPr>
              <a:t/>
            </a:r>
          </a:p>
          <a:p>
            <a:pPr algn="l">
              <a:lnSpc>
                <a:spcPct val="120000"/>
              </a:lnSpc>
              <a:spcAft>
                <a:spcPts val="200"/>
              </a:spcAft>
            </a:pPr>
            <a:r>
              <a:rPr sz="1600" b="1" i="0">
                <a:solidFill>
                  <a:srgbClr val="31C8D6"/>
                </a:solidFill>
                <a:latin typeface="Arial"/>
              </a:rPr>
              <a:t>A new tender or a policy change means updating a setting — not rewriting and redeploying code.</a:t>
            </a:r>
          </a:p>
        </p:txBody>
      </p:sp>
      <p:sp>
        <p:nvSpPr>
          <p:cNvPr id="6" name="Rounded Rectangle 5"/>
          <p:cNvSpPr/>
          <p:nvPr/>
        </p:nvSpPr>
        <p:spPr>
          <a:xfrm>
            <a:off x="6858000" y="2103120"/>
            <a:ext cx="4663440" cy="27889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2304288"/>
            <a:ext cx="4023360" cy="365760"/>
          </a:xfrm>
          <a:prstGeom prst="rect">
            <a:avLst/>
          </a:prstGeom>
          <a:noFill/>
        </p:spPr>
        <p:txBody>
          <a:bodyPr wrap="square" anchor="t" lIns="0" rIns="0" tIns="0" bIns="0">
            <a:spAutoFit/>
          </a:bodyPr>
          <a:lstStyle/>
          <a:p>
            <a:pPr algn="l"/>
            <a:r>
              <a:rPr sz="1250" b="1" i="0">
                <a:solidFill>
                  <a:srgbClr val="31C8D6"/>
                </a:solidFill>
                <a:latin typeface="Courier New"/>
              </a:rPr>
              <a:t>rules.yaml  (editable)</a:t>
            </a:r>
          </a:p>
        </p:txBody>
      </p:sp>
      <p:sp>
        <p:nvSpPr>
          <p:cNvPr id="8" name="TextBox 7"/>
          <p:cNvSpPr txBox="1"/>
          <p:nvPr/>
        </p:nvSpPr>
        <p:spPr>
          <a:xfrm>
            <a:off x="7178040" y="2761488"/>
            <a:ext cx="4114800" cy="292608"/>
          </a:xfrm>
          <a:prstGeom prst="rect">
            <a:avLst/>
          </a:prstGeom>
          <a:noFill/>
        </p:spPr>
        <p:txBody>
          <a:bodyPr wrap="square" anchor="t" lIns="0" rIns="0" tIns="0" bIns="0">
            <a:spAutoFit/>
          </a:bodyPr>
          <a:lstStyle/>
          <a:p>
            <a:pPr algn="l"/>
            <a:r>
              <a:rPr sz="1200" b="0" i="0">
                <a:solidFill>
                  <a:srgbClr val="EAF0FF"/>
                </a:solidFill>
                <a:latin typeface="Courier New"/>
              </a:rPr>
              <a:t>local_content:</a:t>
            </a:r>
          </a:p>
        </p:txBody>
      </p:sp>
      <p:sp>
        <p:nvSpPr>
          <p:cNvPr id="9" name="TextBox 8"/>
          <p:cNvSpPr txBox="1"/>
          <p:nvPr/>
        </p:nvSpPr>
        <p:spPr>
          <a:xfrm>
            <a:off x="7178040" y="2994660"/>
            <a:ext cx="4114800" cy="292608"/>
          </a:xfrm>
          <a:prstGeom prst="rect">
            <a:avLst/>
          </a:prstGeom>
          <a:noFill/>
        </p:spPr>
        <p:txBody>
          <a:bodyPr wrap="square" anchor="t" lIns="0" rIns="0" tIns="0" bIns="0">
            <a:spAutoFit/>
          </a:bodyPr>
          <a:lstStyle/>
          <a:p>
            <a:pPr algn="l"/>
            <a:r>
              <a:rPr sz="1200" b="0" i="0">
                <a:solidFill>
                  <a:srgbClr val="93A1C0"/>
                </a:solidFill>
                <a:latin typeface="Courier New"/>
              </a:rPr>
              <a:t>  class_i_min_percent: 50</a:t>
            </a:r>
          </a:p>
        </p:txBody>
      </p:sp>
      <p:sp>
        <p:nvSpPr>
          <p:cNvPr id="10" name="TextBox 9"/>
          <p:cNvSpPr txBox="1"/>
          <p:nvPr/>
        </p:nvSpPr>
        <p:spPr>
          <a:xfrm>
            <a:off x="7178040" y="3227832"/>
            <a:ext cx="4114800" cy="292608"/>
          </a:xfrm>
          <a:prstGeom prst="rect">
            <a:avLst/>
          </a:prstGeom>
          <a:noFill/>
        </p:spPr>
        <p:txBody>
          <a:bodyPr wrap="square" anchor="t" lIns="0" rIns="0" tIns="0" bIns="0">
            <a:spAutoFit/>
          </a:bodyPr>
          <a:lstStyle/>
          <a:p>
            <a:pPr algn="l"/>
            <a:r>
              <a:rPr sz="1200" b="0" i="0">
                <a:solidFill>
                  <a:srgbClr val="93A1C0"/>
                </a:solidFill>
                <a:latin typeface="Courier New"/>
              </a:rPr>
              <a:t>  class_ii_min_percent: 20</a:t>
            </a:r>
          </a:p>
        </p:txBody>
      </p:sp>
      <p:sp>
        <p:nvSpPr>
          <p:cNvPr id="11" name="TextBox 10"/>
          <p:cNvSpPr txBox="1"/>
          <p:nvPr/>
        </p:nvSpPr>
        <p:spPr>
          <a:xfrm>
            <a:off x="7178040" y="3461003"/>
            <a:ext cx="4114800" cy="292608"/>
          </a:xfrm>
          <a:prstGeom prst="rect">
            <a:avLst/>
          </a:prstGeom>
          <a:noFill/>
        </p:spPr>
        <p:txBody>
          <a:bodyPr wrap="square" anchor="t" lIns="0" rIns="0" tIns="0" bIns="0">
            <a:spAutoFit/>
          </a:bodyPr>
          <a:lstStyle/>
          <a:p>
            <a:pPr algn="l"/>
            <a:r>
              <a:rPr sz="1200" b="0" i="0">
                <a:solidFill>
                  <a:srgbClr val="EAF0FF"/>
                </a:solidFill>
                <a:latin typeface="Courier New"/>
              </a:rPr>
              <a:t>gst:</a:t>
            </a:r>
          </a:p>
        </p:txBody>
      </p:sp>
      <p:sp>
        <p:nvSpPr>
          <p:cNvPr id="12" name="TextBox 11"/>
          <p:cNvSpPr txBox="1"/>
          <p:nvPr/>
        </p:nvSpPr>
        <p:spPr>
          <a:xfrm>
            <a:off x="7178040" y="3694176"/>
            <a:ext cx="4114800" cy="292608"/>
          </a:xfrm>
          <a:prstGeom prst="rect">
            <a:avLst/>
          </a:prstGeom>
          <a:noFill/>
        </p:spPr>
        <p:txBody>
          <a:bodyPr wrap="square" anchor="t" lIns="0" rIns="0" tIns="0" bIns="0">
            <a:spAutoFit/>
          </a:bodyPr>
          <a:lstStyle/>
          <a:p>
            <a:pPr algn="l"/>
            <a:r>
              <a:rPr sz="1200" b="0" i="0">
                <a:solidFill>
                  <a:srgbClr val="93A1C0"/>
                </a:solidFill>
                <a:latin typeface="Courier New"/>
              </a:rPr>
              <a:t>  return_grace_period_months: 2</a:t>
            </a:r>
          </a:p>
        </p:txBody>
      </p:sp>
      <p:sp>
        <p:nvSpPr>
          <p:cNvPr id="13" name="TextBox 12"/>
          <p:cNvSpPr txBox="1"/>
          <p:nvPr/>
        </p:nvSpPr>
        <p:spPr>
          <a:xfrm>
            <a:off x="7178040" y="3927348"/>
            <a:ext cx="4114800" cy="292608"/>
          </a:xfrm>
          <a:prstGeom prst="rect">
            <a:avLst/>
          </a:prstGeom>
          <a:noFill/>
        </p:spPr>
        <p:txBody>
          <a:bodyPr wrap="square" anchor="t" lIns="0" rIns="0" tIns="0" bIns="0">
            <a:spAutoFit/>
          </a:bodyPr>
          <a:lstStyle/>
          <a:p>
            <a:pPr algn="l"/>
            <a:r>
              <a:rPr sz="1200" b="0" i="0">
                <a:solidFill>
                  <a:srgbClr val="EAF0FF"/>
                </a:solidFill>
                <a:latin typeface="Courier New"/>
              </a:rPr>
              <a:t>blacklist:</a:t>
            </a:r>
          </a:p>
        </p:txBody>
      </p:sp>
      <p:sp>
        <p:nvSpPr>
          <p:cNvPr id="14" name="TextBox 13"/>
          <p:cNvSpPr txBox="1"/>
          <p:nvPr/>
        </p:nvSpPr>
        <p:spPr>
          <a:xfrm>
            <a:off x="7178040" y="4160520"/>
            <a:ext cx="4114800" cy="292608"/>
          </a:xfrm>
          <a:prstGeom prst="rect">
            <a:avLst/>
          </a:prstGeom>
          <a:noFill/>
        </p:spPr>
        <p:txBody>
          <a:bodyPr wrap="square" anchor="t" lIns="0" rIns="0" tIns="0" bIns="0">
            <a:spAutoFit/>
          </a:bodyPr>
          <a:lstStyle/>
          <a:p>
            <a:pPr algn="l"/>
            <a:r>
              <a:rPr sz="1200" b="0" i="0">
                <a:solidFill>
                  <a:srgbClr val="93A1C0"/>
                </a:solidFill>
                <a:latin typeface="Courier New"/>
              </a:rPr>
              <a:t>  fuzzy_threshold: 85</a:t>
            </a:r>
          </a:p>
        </p:txBody>
      </p:sp>
      <p:sp>
        <p:nvSpPr>
          <p:cNvPr id="15" name="TextBox 14"/>
          <p:cNvSpPr txBox="1"/>
          <p:nvPr/>
        </p:nvSpPr>
        <p:spPr>
          <a:xfrm>
            <a:off x="7178040" y="4393692"/>
            <a:ext cx="4114800" cy="292608"/>
          </a:xfrm>
          <a:prstGeom prst="rect">
            <a:avLst/>
          </a:prstGeom>
          <a:noFill/>
        </p:spPr>
        <p:txBody>
          <a:bodyPr wrap="square" anchor="t" lIns="0" rIns="0" tIns="0" bIns="0">
            <a:spAutoFit/>
          </a:bodyPr>
          <a:lstStyle/>
          <a:p>
            <a:pPr algn="l"/>
            <a:r>
              <a:rPr sz="1200" b="0" i="0">
                <a:solidFill>
                  <a:srgbClr val="EAF0FF"/>
                </a:solidFill>
                <a:latin typeface="Courier New"/>
              </a:rPr>
              <a:t>scoring:</a:t>
            </a:r>
          </a:p>
        </p:txBody>
      </p:sp>
      <p:sp>
        <p:nvSpPr>
          <p:cNvPr id="16" name="TextBox 15"/>
          <p:cNvSpPr txBox="1"/>
          <p:nvPr/>
        </p:nvSpPr>
        <p:spPr>
          <a:xfrm>
            <a:off x="7178040" y="4626864"/>
            <a:ext cx="4114800" cy="292608"/>
          </a:xfrm>
          <a:prstGeom prst="rect">
            <a:avLst/>
          </a:prstGeom>
          <a:noFill/>
        </p:spPr>
        <p:txBody>
          <a:bodyPr wrap="square" anchor="t" lIns="0" rIns="0" tIns="0" bIns="0">
            <a:spAutoFit/>
          </a:bodyPr>
          <a:lstStyle/>
          <a:p>
            <a:pPr algn="l"/>
            <a:r>
              <a:rPr sz="1200" b="0" i="0">
                <a:solidFill>
                  <a:srgbClr val="93A1C0"/>
                </a:solidFill>
                <a:latin typeface="Courier New"/>
              </a:rPr>
              <a:t>  hard_fail_score_cap: 25</a:t>
            </a:r>
          </a:p>
        </p:txBody>
      </p:sp>
      <p:sp>
        <p:nvSpPr>
          <p:cNvPr id="17" name="TextBox 16"/>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Editable by an admin in the UI — the platform adapts to any tender, any ministry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PILLAR 6 · THE VERDICT</a:t>
            </a:r>
          </a:p>
        </p:txBody>
      </p:sp>
      <p:sp>
        <p:nvSpPr>
          <p:cNvPr id="4" name="TextBox 3"/>
          <p:cNvSpPr txBox="1"/>
          <p:nvPr/>
        </p:nvSpPr>
        <p:spPr>
          <a:xfrm>
            <a:off x="640080" y="914400"/>
            <a:ext cx="1115568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A clear score, a risk level, and a recommendation — with reasons</a:t>
            </a:r>
          </a:p>
        </p:txBody>
      </p:sp>
      <p:sp>
        <p:nvSpPr>
          <p:cNvPr id="5" name="Oval 4"/>
          <p:cNvSpPr/>
          <p:nvPr/>
        </p:nvSpPr>
        <p:spPr>
          <a:xfrm>
            <a:off x="822960" y="2148840"/>
            <a:ext cx="2468880" cy="2468880"/>
          </a:xfrm>
          <a:prstGeom prst="ellipse">
            <a:avLst/>
          </a:prstGeom>
          <a:solidFill>
            <a:srgbClr val="141B2E"/>
          </a:solidFill>
          <a:ln w="762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51760"/>
            <a:ext cx="2468880" cy="731520"/>
          </a:xfrm>
          <a:prstGeom prst="rect">
            <a:avLst/>
          </a:prstGeom>
          <a:noFill/>
        </p:spPr>
        <p:txBody>
          <a:bodyPr wrap="square" anchor="t" lIns="0" rIns="0" tIns="0" bIns="0">
            <a:spAutoFit/>
          </a:bodyPr>
          <a:lstStyle/>
          <a:p>
            <a:pPr algn="ctr"/>
            <a:r>
              <a:rPr sz="4000" b="1" i="0">
                <a:solidFill>
                  <a:srgbClr val="EAF0FF"/>
                </a:solidFill>
                <a:latin typeface="Arial"/>
              </a:rPr>
              <a:t>95.0</a:t>
            </a:r>
          </a:p>
        </p:txBody>
      </p:sp>
      <p:sp>
        <p:nvSpPr>
          <p:cNvPr id="7" name="TextBox 6"/>
          <p:cNvSpPr txBox="1"/>
          <p:nvPr/>
        </p:nvSpPr>
        <p:spPr>
          <a:xfrm>
            <a:off x="822960" y="3310128"/>
            <a:ext cx="2468880" cy="365760"/>
          </a:xfrm>
          <a:prstGeom prst="rect">
            <a:avLst/>
          </a:prstGeom>
          <a:noFill/>
        </p:spPr>
        <p:txBody>
          <a:bodyPr wrap="square" anchor="t" lIns="0" rIns="0" tIns="0" bIns="0">
            <a:spAutoFit/>
          </a:bodyPr>
          <a:lstStyle/>
          <a:p>
            <a:pPr algn="ctr"/>
            <a:r>
              <a:rPr sz="1250" b="0" i="0">
                <a:solidFill>
                  <a:srgbClr val="93A1C0"/>
                </a:solidFill>
                <a:latin typeface="Arial"/>
              </a:rPr>
              <a:t>out of 100</a:t>
            </a:r>
          </a:p>
        </p:txBody>
      </p:sp>
      <p:sp>
        <p:nvSpPr>
          <p:cNvPr id="8" name="TextBox 7"/>
          <p:cNvSpPr txBox="1"/>
          <p:nvPr/>
        </p:nvSpPr>
        <p:spPr>
          <a:xfrm>
            <a:off x="822960" y="4754880"/>
            <a:ext cx="2468880" cy="365760"/>
          </a:xfrm>
          <a:prstGeom prst="rect">
            <a:avLst/>
          </a:prstGeom>
          <a:noFill/>
        </p:spPr>
        <p:txBody>
          <a:bodyPr wrap="square" anchor="t" lIns="0" rIns="0" tIns="0" bIns="0">
            <a:spAutoFit/>
          </a:bodyPr>
          <a:lstStyle/>
          <a:p>
            <a:pPr algn="ctr"/>
            <a:r>
              <a:rPr sz="1300" b="1" i="0">
                <a:solidFill>
                  <a:srgbClr val="31C8D6"/>
                </a:solidFill>
                <a:latin typeface="Arial"/>
              </a:rPr>
              <a:t>Compliance score</a:t>
            </a:r>
          </a:p>
        </p:txBody>
      </p:sp>
      <p:sp>
        <p:nvSpPr>
          <p:cNvPr id="9" name="TextBox 8"/>
          <p:cNvSpPr txBox="1"/>
          <p:nvPr/>
        </p:nvSpPr>
        <p:spPr>
          <a:xfrm>
            <a:off x="3840480" y="2194560"/>
            <a:ext cx="7315200" cy="411480"/>
          </a:xfrm>
          <a:prstGeom prst="rect">
            <a:avLst/>
          </a:prstGeom>
          <a:noFill/>
        </p:spPr>
        <p:txBody>
          <a:bodyPr wrap="square" anchor="t" lIns="0" rIns="0" tIns="0" bIns="0">
            <a:spAutoFit/>
          </a:bodyPr>
          <a:lstStyle/>
          <a:p>
            <a:pPr algn="l"/>
            <a:r>
              <a:rPr sz="1400" b="1" i="0">
                <a:solidFill>
                  <a:srgbClr val="31C8D6"/>
                </a:solidFill>
                <a:latin typeface="Arial"/>
              </a:rPr>
              <a:t>Three possible recommendations</a:t>
            </a:r>
          </a:p>
        </p:txBody>
      </p:sp>
      <p:sp>
        <p:nvSpPr>
          <p:cNvPr id="10" name="Rounded Rectangle 9"/>
          <p:cNvSpPr/>
          <p:nvPr/>
        </p:nvSpPr>
        <p:spPr>
          <a:xfrm>
            <a:off x="3840480" y="2697480"/>
            <a:ext cx="2743200" cy="457200"/>
          </a:xfrm>
          <a:prstGeom prst="roundRect">
            <a:avLst>
              <a:gd name="adj" fmla="val 50000"/>
            </a:avLst>
          </a:prstGeom>
          <a:solidFill>
            <a:srgbClr val="1036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50" b="1">
                <a:solidFill>
                  <a:srgbClr val="34D399"/>
                </a:solidFill>
                <a:latin typeface="Arial"/>
              </a:rPr>
              <a:t>Qualify</a:t>
            </a:r>
          </a:p>
        </p:txBody>
      </p:sp>
      <p:sp>
        <p:nvSpPr>
          <p:cNvPr id="11" name="TextBox 10"/>
          <p:cNvSpPr txBox="1"/>
          <p:nvPr/>
        </p:nvSpPr>
        <p:spPr>
          <a:xfrm>
            <a:off x="6766560" y="2697480"/>
            <a:ext cx="4572000" cy="457200"/>
          </a:xfrm>
          <a:prstGeom prst="rect">
            <a:avLst/>
          </a:prstGeom>
          <a:noFill/>
        </p:spPr>
        <p:txBody>
          <a:bodyPr wrap="square" anchor="ctr" lIns="0" rIns="0" tIns="0" bIns="0">
            <a:spAutoFit/>
          </a:bodyPr>
          <a:lstStyle/>
          <a:p>
            <a:pPr algn="l"/>
            <a:r>
              <a:rPr sz="1300" b="0" i="0">
                <a:solidFill>
                  <a:srgbClr val="93A1C0"/>
                </a:solidFill>
                <a:latin typeface="Arial"/>
              </a:rPr>
              <a:t>meets all applicable requirements</a:t>
            </a:r>
          </a:p>
        </p:txBody>
      </p:sp>
      <p:sp>
        <p:nvSpPr>
          <p:cNvPr id="12" name="Rounded Rectangle 11"/>
          <p:cNvSpPr/>
          <p:nvPr/>
        </p:nvSpPr>
        <p:spPr>
          <a:xfrm>
            <a:off x="3840480" y="3355848"/>
            <a:ext cx="2743200" cy="457200"/>
          </a:xfrm>
          <a:prstGeom prst="roundRect">
            <a:avLst>
              <a:gd name="adj" fmla="val 50000"/>
            </a:avLst>
          </a:prstGeom>
          <a:solidFill>
            <a:srgbClr val="3A2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50" b="1">
                <a:solidFill>
                  <a:srgbClr val="FBBF24"/>
                </a:solidFill>
                <a:latin typeface="Arial"/>
              </a:rPr>
              <a:t>Needs review</a:t>
            </a:r>
          </a:p>
        </p:txBody>
      </p:sp>
      <p:sp>
        <p:nvSpPr>
          <p:cNvPr id="13" name="TextBox 12"/>
          <p:cNvSpPr txBox="1"/>
          <p:nvPr/>
        </p:nvSpPr>
        <p:spPr>
          <a:xfrm>
            <a:off x="6766560" y="3355848"/>
            <a:ext cx="4572000" cy="457200"/>
          </a:xfrm>
          <a:prstGeom prst="rect">
            <a:avLst/>
          </a:prstGeom>
          <a:noFill/>
        </p:spPr>
        <p:txBody>
          <a:bodyPr wrap="square" anchor="ctr" lIns="0" rIns="0" tIns="0" bIns="0">
            <a:spAutoFit/>
          </a:bodyPr>
          <a:lstStyle/>
          <a:p>
            <a:pPr algn="l"/>
            <a:r>
              <a:rPr sz="1300" b="0" i="0">
                <a:solidFill>
                  <a:srgbClr val="93A1C0"/>
                </a:solidFill>
                <a:latin typeface="Arial"/>
              </a:rPr>
              <a:t>unresolved items — officer must look</a:t>
            </a:r>
          </a:p>
        </p:txBody>
      </p:sp>
      <p:sp>
        <p:nvSpPr>
          <p:cNvPr id="14" name="Rounded Rectangle 13"/>
          <p:cNvSpPr/>
          <p:nvPr/>
        </p:nvSpPr>
        <p:spPr>
          <a:xfrm>
            <a:off x="3840480" y="4014215"/>
            <a:ext cx="2743200" cy="457200"/>
          </a:xfrm>
          <a:prstGeom prst="roundRect">
            <a:avLst>
              <a:gd name="adj" fmla="val 50000"/>
            </a:avLst>
          </a:prstGeom>
          <a:solidFill>
            <a:srgbClr val="3A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50" b="1">
                <a:solidFill>
                  <a:srgbClr val="F87171"/>
                </a:solidFill>
                <a:latin typeface="Arial"/>
              </a:rPr>
              <a:t>Disqualify (candidate)</a:t>
            </a:r>
          </a:p>
        </p:txBody>
      </p:sp>
      <p:sp>
        <p:nvSpPr>
          <p:cNvPr id="15" name="TextBox 14"/>
          <p:cNvSpPr txBox="1"/>
          <p:nvPr/>
        </p:nvSpPr>
        <p:spPr>
          <a:xfrm>
            <a:off x="6766560" y="4014215"/>
            <a:ext cx="4572000" cy="457200"/>
          </a:xfrm>
          <a:prstGeom prst="rect">
            <a:avLst/>
          </a:prstGeom>
          <a:noFill/>
        </p:spPr>
        <p:txBody>
          <a:bodyPr wrap="square" anchor="ctr" lIns="0" rIns="0" tIns="0" bIns="0">
            <a:spAutoFit/>
          </a:bodyPr>
          <a:lstStyle/>
          <a:p>
            <a:pPr algn="l"/>
            <a:r>
              <a:rPr sz="1300" b="0" i="0">
                <a:solidFill>
                  <a:srgbClr val="93A1C0"/>
                </a:solidFill>
                <a:latin typeface="Arial"/>
              </a:rPr>
              <a:t>fails a mandatory gate — e.g. forgery or blacklist</a:t>
            </a:r>
          </a:p>
        </p:txBody>
      </p:sp>
      <p:sp>
        <p:nvSpPr>
          <p:cNvPr id="16" name="TextBox 15"/>
          <p:cNvSpPr txBox="1"/>
          <p:nvPr/>
        </p:nvSpPr>
        <p:spPr>
          <a:xfrm>
            <a:off x="3840480" y="4754880"/>
            <a:ext cx="7589520" cy="1005840"/>
          </a:xfrm>
          <a:prstGeom prst="rect">
            <a:avLst/>
          </a:prstGeom>
          <a:noFill/>
        </p:spPr>
        <p:txBody>
          <a:bodyPr wrap="square" anchor="t" lIns="0" rIns="0" tIns="0" bIns="0">
            <a:spAutoFit/>
          </a:bodyPr>
          <a:lstStyle/>
          <a:p>
            <a:pPr algn="l">
              <a:lnSpc>
                <a:spcPct val="116000"/>
              </a:lnSpc>
            </a:pPr>
            <a:r>
              <a:rPr sz="1350" b="0" i="0">
                <a:solidFill>
                  <a:srgbClr val="EAF0FF"/>
                </a:solidFill>
                <a:latin typeface="Arial"/>
              </a:rPr>
              <a:t>A weighted score, a risk level, and a plain-language reason that cites the actual checks — plus a one-click signed PDF report for the file. </a:t>
            </a:r>
            <a:r>
              <a:rPr sz="1350" b="1" i="0">
                <a:solidFill>
                  <a:srgbClr val="F87171"/>
                </a:solidFill>
                <a:latin typeface="Arial"/>
              </a:rPr>
              <a:t>Forgery, blacklist, or an inflated Make-in-India claim automatically cap the score.</a:t>
            </a:r>
          </a:p>
        </p:txBody>
      </p:sp>
      <p:sp>
        <p:nvSpPr>
          <p:cNvPr id="17" name="TextBox 16"/>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Explainable by construction — the number, the risk, and the recommendation always come with their reasons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ACCOUNTABILITY</a:t>
            </a:r>
          </a:p>
        </p:txBody>
      </p:sp>
      <p:sp>
        <p:nvSpPr>
          <p:cNvPr id="4" name="TextBox 3"/>
          <p:cNvSpPr txBox="1"/>
          <p:nvPr/>
        </p:nvSpPr>
        <p:spPr>
          <a:xfrm>
            <a:off x="640080" y="914400"/>
            <a:ext cx="1097280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The AI never decides on its own</a:t>
            </a:r>
          </a:p>
        </p:txBody>
      </p:sp>
      <p:sp>
        <p:nvSpPr>
          <p:cNvPr id="5" name="Rounded Rectangle 4"/>
          <p:cNvSpPr/>
          <p:nvPr/>
        </p:nvSpPr>
        <p:spPr>
          <a:xfrm>
            <a:off x="640080" y="2103120"/>
            <a:ext cx="5394960"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2414015"/>
            <a:ext cx="274320" cy="27432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761487"/>
            <a:ext cx="4800600" cy="365760"/>
          </a:xfrm>
          <a:prstGeom prst="rect">
            <a:avLst/>
          </a:prstGeom>
          <a:noFill/>
        </p:spPr>
        <p:txBody>
          <a:bodyPr wrap="square" anchor="t" lIns="0" rIns="0" tIns="0" bIns="0">
            <a:spAutoFit/>
          </a:bodyPr>
          <a:lstStyle/>
          <a:p>
            <a:pPr algn="l"/>
            <a:r>
              <a:rPr sz="1600" b="1" i="0">
                <a:solidFill>
                  <a:srgbClr val="EAF0FF"/>
                </a:solidFill>
                <a:latin typeface="Arial"/>
              </a:rPr>
              <a:t>Recommends, doesn't rule</a:t>
            </a:r>
          </a:p>
        </p:txBody>
      </p:sp>
      <p:sp>
        <p:nvSpPr>
          <p:cNvPr id="8" name="TextBox 7"/>
          <p:cNvSpPr txBox="1"/>
          <p:nvPr/>
        </p:nvSpPr>
        <p:spPr>
          <a:xfrm>
            <a:off x="950976" y="3090672"/>
            <a:ext cx="4800600" cy="365760"/>
          </a:xfrm>
          <a:prstGeom prst="rect">
            <a:avLst/>
          </a:prstGeom>
          <a:noFill/>
        </p:spPr>
        <p:txBody>
          <a:bodyPr wrap="square" anchor="t" lIns="0" rIns="0" tIns="0" bIns="0">
            <a:spAutoFit/>
          </a:bodyPr>
          <a:lstStyle/>
          <a:p>
            <a:pPr algn="l"/>
            <a:r>
              <a:rPr sz="1300" b="0" i="0">
                <a:solidFill>
                  <a:srgbClr val="93A1C0"/>
                </a:solidFill>
                <a:latin typeface="Arial"/>
              </a:rPr>
              <a:t>The platform advises; the officer makes the final call.</a:t>
            </a:r>
          </a:p>
        </p:txBody>
      </p:sp>
      <p:sp>
        <p:nvSpPr>
          <p:cNvPr id="9" name="Rounded Rectangle 8"/>
          <p:cNvSpPr/>
          <p:nvPr/>
        </p:nvSpPr>
        <p:spPr>
          <a:xfrm>
            <a:off x="6355080" y="2103120"/>
            <a:ext cx="5394960"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665976" y="2414015"/>
            <a:ext cx="274320" cy="27432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65976" y="2761487"/>
            <a:ext cx="4800600" cy="365760"/>
          </a:xfrm>
          <a:prstGeom prst="rect">
            <a:avLst/>
          </a:prstGeom>
          <a:noFill/>
        </p:spPr>
        <p:txBody>
          <a:bodyPr wrap="square" anchor="t" lIns="0" rIns="0" tIns="0" bIns="0">
            <a:spAutoFit/>
          </a:bodyPr>
          <a:lstStyle/>
          <a:p>
            <a:pPr algn="l"/>
            <a:r>
              <a:rPr sz="1600" b="1" i="0">
                <a:solidFill>
                  <a:srgbClr val="EAF0FF"/>
                </a:solidFill>
                <a:latin typeface="Arial"/>
              </a:rPr>
              <a:t>Justification required</a:t>
            </a:r>
          </a:p>
        </p:txBody>
      </p:sp>
      <p:sp>
        <p:nvSpPr>
          <p:cNvPr id="12" name="TextBox 11"/>
          <p:cNvSpPr txBox="1"/>
          <p:nvPr/>
        </p:nvSpPr>
        <p:spPr>
          <a:xfrm>
            <a:off x="6665976" y="3090672"/>
            <a:ext cx="4800600" cy="365760"/>
          </a:xfrm>
          <a:prstGeom prst="rect">
            <a:avLst/>
          </a:prstGeom>
          <a:noFill/>
        </p:spPr>
        <p:txBody>
          <a:bodyPr wrap="square" anchor="t" lIns="0" rIns="0" tIns="0" bIns="0">
            <a:spAutoFit/>
          </a:bodyPr>
          <a:lstStyle/>
          <a:p>
            <a:pPr algn="l"/>
            <a:r>
              <a:rPr sz="1300" b="0" i="0">
                <a:solidFill>
                  <a:srgbClr val="93A1C0"/>
                </a:solidFill>
                <a:latin typeface="Arial"/>
              </a:rPr>
              <a:t>Every decision needs a typed reason before it's saved.</a:t>
            </a:r>
          </a:p>
        </p:txBody>
      </p:sp>
      <p:sp>
        <p:nvSpPr>
          <p:cNvPr id="13" name="Rounded Rectangle 12"/>
          <p:cNvSpPr/>
          <p:nvPr/>
        </p:nvSpPr>
        <p:spPr>
          <a:xfrm>
            <a:off x="640080" y="3840479"/>
            <a:ext cx="5394960"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0976" y="4151375"/>
            <a:ext cx="274320" cy="27432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4498847"/>
            <a:ext cx="4800600" cy="365760"/>
          </a:xfrm>
          <a:prstGeom prst="rect">
            <a:avLst/>
          </a:prstGeom>
          <a:noFill/>
        </p:spPr>
        <p:txBody>
          <a:bodyPr wrap="square" anchor="t" lIns="0" rIns="0" tIns="0" bIns="0">
            <a:spAutoFit/>
          </a:bodyPr>
          <a:lstStyle/>
          <a:p>
            <a:pPr algn="l"/>
            <a:r>
              <a:rPr sz="1600" b="1" i="0">
                <a:solidFill>
                  <a:srgbClr val="EAF0FF"/>
                </a:solidFill>
                <a:latin typeface="Arial"/>
              </a:rPr>
              <a:t>Overrides are flagged</a:t>
            </a:r>
          </a:p>
        </p:txBody>
      </p:sp>
      <p:sp>
        <p:nvSpPr>
          <p:cNvPr id="16" name="TextBox 15"/>
          <p:cNvSpPr txBox="1"/>
          <p:nvPr/>
        </p:nvSpPr>
        <p:spPr>
          <a:xfrm>
            <a:off x="950976" y="4828031"/>
            <a:ext cx="4800600" cy="365760"/>
          </a:xfrm>
          <a:prstGeom prst="rect">
            <a:avLst/>
          </a:prstGeom>
          <a:noFill/>
        </p:spPr>
        <p:txBody>
          <a:bodyPr wrap="square" anchor="t" lIns="0" rIns="0" tIns="0" bIns="0">
            <a:spAutoFit/>
          </a:bodyPr>
          <a:lstStyle/>
          <a:p>
            <a:pPr algn="l"/>
            <a:r>
              <a:rPr sz="1300" b="0" i="0">
                <a:solidFill>
                  <a:srgbClr val="93A1C0"/>
                </a:solidFill>
                <a:latin typeface="Arial"/>
              </a:rPr>
              <a:t>Disagree with the AI? That's recorded and highlighted.</a:t>
            </a:r>
          </a:p>
        </p:txBody>
      </p:sp>
      <p:sp>
        <p:nvSpPr>
          <p:cNvPr id="17" name="Rounded Rectangle 16"/>
          <p:cNvSpPr/>
          <p:nvPr/>
        </p:nvSpPr>
        <p:spPr>
          <a:xfrm>
            <a:off x="6355080" y="3840479"/>
            <a:ext cx="5394960"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65976" y="4151375"/>
            <a:ext cx="274320" cy="27432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65976" y="4498847"/>
            <a:ext cx="4800600" cy="365760"/>
          </a:xfrm>
          <a:prstGeom prst="rect">
            <a:avLst/>
          </a:prstGeom>
          <a:noFill/>
        </p:spPr>
        <p:txBody>
          <a:bodyPr wrap="square" anchor="t" lIns="0" rIns="0" tIns="0" bIns="0">
            <a:spAutoFit/>
          </a:bodyPr>
          <a:lstStyle/>
          <a:p>
            <a:pPr algn="l"/>
            <a:r>
              <a:rPr sz="1600" b="1" i="0">
                <a:solidFill>
                  <a:srgbClr val="EAF0FF"/>
                </a:solidFill>
                <a:latin typeface="Arial"/>
              </a:rPr>
              <a:t>All of it is audited</a:t>
            </a:r>
          </a:p>
        </p:txBody>
      </p:sp>
      <p:sp>
        <p:nvSpPr>
          <p:cNvPr id="20" name="TextBox 19"/>
          <p:cNvSpPr txBox="1"/>
          <p:nvPr/>
        </p:nvSpPr>
        <p:spPr>
          <a:xfrm>
            <a:off x="6665976" y="4828031"/>
            <a:ext cx="4800600" cy="365760"/>
          </a:xfrm>
          <a:prstGeom prst="rect">
            <a:avLst/>
          </a:prstGeom>
          <a:noFill/>
        </p:spPr>
        <p:txBody>
          <a:bodyPr wrap="square" anchor="t" lIns="0" rIns="0" tIns="0" bIns="0">
            <a:spAutoFit/>
          </a:bodyPr>
          <a:lstStyle/>
          <a:p>
            <a:pPr algn="l"/>
            <a:r>
              <a:rPr sz="1300" b="0" i="0">
                <a:solidFill>
                  <a:srgbClr val="93A1C0"/>
                </a:solidFill>
                <a:latin typeface="Arial"/>
              </a:rPr>
              <a:t>Every decision lands in the tamper-evident chain.</a:t>
            </a:r>
          </a:p>
        </p:txBody>
      </p:sp>
      <p:sp>
        <p:nvSpPr>
          <p:cNvPr id="21" name="TextBox 20"/>
          <p:cNvSpPr txBox="1"/>
          <p:nvPr/>
        </p:nvSpPr>
        <p:spPr>
          <a:xfrm>
            <a:off x="640080" y="5257800"/>
            <a:ext cx="10972800" cy="548640"/>
          </a:xfrm>
          <a:prstGeom prst="rect">
            <a:avLst/>
          </a:prstGeom>
          <a:noFill/>
        </p:spPr>
        <p:txBody>
          <a:bodyPr wrap="square" anchor="t" lIns="0" rIns="0" tIns="0" bIns="0">
            <a:spAutoFit/>
          </a:bodyPr>
          <a:lstStyle/>
          <a:p>
            <a:pPr algn="l"/>
            <a:r>
              <a:rPr sz="1600" b="1" i="0">
                <a:solidFill>
                  <a:srgbClr val="31C8D6"/>
                </a:solidFill>
                <a:latin typeface="Arial"/>
              </a:rPr>
              <a:t>Faster and safer — </a:t>
            </a:r>
            <a:r>
              <a:rPr sz="1600" b="0" i="0">
                <a:solidFill>
                  <a:srgbClr val="EAF0FF"/>
                </a:solidFill>
                <a:latin typeface="Arial"/>
              </a:rPr>
              <a:t>but a human is always accountable for the outcome.</a:t>
            </a:r>
          </a:p>
        </p:txBody>
      </p:sp>
      <p:sp>
        <p:nvSpPr>
          <p:cNvPr id="22" name="TextBox 21"/>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This is the difference between decision-support and hands-off automation — government needs the former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92608"/>
          </a:xfrm>
          <a:prstGeom prst="rect">
            <a:avLst/>
          </a:prstGeom>
          <a:noFill/>
        </p:spPr>
        <p:txBody>
          <a:bodyPr wrap="square" anchor="t" lIns="0" rIns="0" tIns="0" bIns="0">
            <a:spAutoFit/>
          </a:bodyPr>
          <a:lstStyle/>
          <a:p>
            <a:pPr algn="l"/>
            <a:r>
              <a:rPr sz="1250" b="1" i="0">
                <a:solidFill>
                  <a:srgbClr val="31C8D6"/>
                </a:solidFill>
                <a:latin typeface="Arial"/>
              </a:rPr>
              <a:t>SEE IT WORK</a:t>
            </a:r>
          </a:p>
        </p:txBody>
      </p:sp>
      <p:sp>
        <p:nvSpPr>
          <p:cNvPr id="4" name="TextBox 3"/>
          <p:cNvSpPr txBox="1"/>
          <p:nvPr/>
        </p:nvSpPr>
        <p:spPr>
          <a:xfrm>
            <a:off x="640080" y="786384"/>
            <a:ext cx="11521440" cy="1188720"/>
          </a:xfrm>
          <a:prstGeom prst="rect">
            <a:avLst/>
          </a:prstGeom>
          <a:noFill/>
        </p:spPr>
        <p:txBody>
          <a:bodyPr wrap="square" anchor="t" lIns="0" rIns="0" tIns="0" bIns="0">
            <a:spAutoFit/>
          </a:bodyPr>
          <a:lstStyle/>
          <a:p>
            <a:pPr algn="l">
              <a:lnSpc>
                <a:spcPct val="100000"/>
              </a:lnSpc>
            </a:pPr>
            <a:r>
              <a:rPr sz="2600" b="1" i="0">
                <a:solidFill>
                  <a:srgbClr val="EAF0FF"/>
                </a:solidFill>
                <a:latin typeface="Arial"/>
              </a:rPr>
              <a:t>One tender, seven bidders — clean, flawed, fraudulent, and colluding</a:t>
            </a:r>
          </a:p>
        </p:txBody>
      </p:sp>
      <p:sp>
        <p:nvSpPr>
          <p:cNvPr id="5" name="TextBox 4"/>
          <p:cNvSpPr txBox="1"/>
          <p:nvPr/>
        </p:nvSpPr>
        <p:spPr>
          <a:xfrm>
            <a:off x="640080" y="1755648"/>
            <a:ext cx="2971800" cy="292608"/>
          </a:xfrm>
          <a:prstGeom prst="rect">
            <a:avLst/>
          </a:prstGeom>
          <a:noFill/>
        </p:spPr>
        <p:txBody>
          <a:bodyPr wrap="square" anchor="t" lIns="0" rIns="0" tIns="0" bIns="0">
            <a:spAutoFit/>
          </a:bodyPr>
          <a:lstStyle/>
          <a:p>
            <a:pPr algn="l"/>
            <a:r>
              <a:rPr sz="1200" b="1" i="0">
                <a:solidFill>
                  <a:srgbClr val="31C8D6"/>
                </a:solidFill>
                <a:latin typeface="Arial"/>
              </a:rPr>
              <a:t>Bidder</a:t>
            </a:r>
          </a:p>
        </p:txBody>
      </p:sp>
      <p:sp>
        <p:nvSpPr>
          <p:cNvPr id="6" name="TextBox 5"/>
          <p:cNvSpPr txBox="1"/>
          <p:nvPr/>
        </p:nvSpPr>
        <p:spPr>
          <a:xfrm>
            <a:off x="3703320" y="1755648"/>
            <a:ext cx="4023360" cy="292608"/>
          </a:xfrm>
          <a:prstGeom prst="rect">
            <a:avLst/>
          </a:prstGeom>
          <a:noFill/>
        </p:spPr>
        <p:txBody>
          <a:bodyPr wrap="square" anchor="t" lIns="0" rIns="0" tIns="0" bIns="0">
            <a:spAutoFit/>
          </a:bodyPr>
          <a:lstStyle/>
          <a:p>
            <a:pPr algn="l"/>
            <a:r>
              <a:rPr sz="1200" b="1" i="0">
                <a:solidFill>
                  <a:srgbClr val="31C8D6"/>
                </a:solidFill>
                <a:latin typeface="Arial"/>
              </a:rPr>
              <a:t>What's going on</a:t>
            </a:r>
          </a:p>
        </p:txBody>
      </p:sp>
      <p:sp>
        <p:nvSpPr>
          <p:cNvPr id="7" name="TextBox 6"/>
          <p:cNvSpPr txBox="1"/>
          <p:nvPr/>
        </p:nvSpPr>
        <p:spPr>
          <a:xfrm>
            <a:off x="7772400" y="1755648"/>
            <a:ext cx="1188720" cy="292608"/>
          </a:xfrm>
          <a:prstGeom prst="rect">
            <a:avLst/>
          </a:prstGeom>
          <a:noFill/>
        </p:spPr>
        <p:txBody>
          <a:bodyPr wrap="square" anchor="t" lIns="0" rIns="0" tIns="0" bIns="0">
            <a:spAutoFit/>
          </a:bodyPr>
          <a:lstStyle/>
          <a:p>
            <a:pPr algn="ctr"/>
            <a:r>
              <a:rPr sz="1200" b="1" i="0">
                <a:solidFill>
                  <a:srgbClr val="31C8D6"/>
                </a:solidFill>
                <a:latin typeface="Arial"/>
              </a:rPr>
              <a:t>Score</a:t>
            </a:r>
          </a:p>
        </p:txBody>
      </p:sp>
      <p:sp>
        <p:nvSpPr>
          <p:cNvPr id="8" name="TextBox 7"/>
          <p:cNvSpPr txBox="1"/>
          <p:nvPr/>
        </p:nvSpPr>
        <p:spPr>
          <a:xfrm>
            <a:off x="9052560" y="1755648"/>
            <a:ext cx="1188720" cy="292608"/>
          </a:xfrm>
          <a:prstGeom prst="rect">
            <a:avLst/>
          </a:prstGeom>
          <a:noFill/>
        </p:spPr>
        <p:txBody>
          <a:bodyPr wrap="square" anchor="t" lIns="0" rIns="0" tIns="0" bIns="0">
            <a:spAutoFit/>
          </a:bodyPr>
          <a:lstStyle/>
          <a:p>
            <a:pPr algn="ctr"/>
            <a:r>
              <a:rPr sz="1200" b="1" i="0">
                <a:solidFill>
                  <a:srgbClr val="31C8D6"/>
                </a:solidFill>
                <a:latin typeface="Arial"/>
              </a:rPr>
              <a:t>Risk</a:t>
            </a:r>
          </a:p>
        </p:txBody>
      </p:sp>
      <p:sp>
        <p:nvSpPr>
          <p:cNvPr id="9" name="TextBox 8"/>
          <p:cNvSpPr txBox="1"/>
          <p:nvPr/>
        </p:nvSpPr>
        <p:spPr>
          <a:xfrm>
            <a:off x="10332720" y="1755648"/>
            <a:ext cx="1188720" cy="292608"/>
          </a:xfrm>
          <a:prstGeom prst="rect">
            <a:avLst/>
          </a:prstGeom>
          <a:noFill/>
        </p:spPr>
        <p:txBody>
          <a:bodyPr wrap="square" anchor="t" lIns="0" rIns="0" tIns="0" bIns="0">
            <a:spAutoFit/>
          </a:bodyPr>
          <a:lstStyle/>
          <a:p>
            <a:pPr algn="ctr"/>
            <a:r>
              <a:rPr sz="1200" b="1" i="0">
                <a:solidFill>
                  <a:srgbClr val="31C8D6"/>
                </a:solidFill>
                <a:latin typeface="Arial"/>
              </a:rPr>
              <a:t>Verdict</a:t>
            </a:r>
          </a:p>
        </p:txBody>
      </p:sp>
      <p:sp>
        <p:nvSpPr>
          <p:cNvPr id="10" name="Rounded Rectangle 9"/>
          <p:cNvSpPr/>
          <p:nvPr/>
        </p:nvSpPr>
        <p:spPr>
          <a:xfrm>
            <a:off x="640080" y="2121408"/>
            <a:ext cx="10881360" cy="521207"/>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 y="2308860"/>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121408"/>
            <a:ext cx="2578608" cy="521207"/>
          </a:xfrm>
          <a:prstGeom prst="rect">
            <a:avLst/>
          </a:prstGeom>
          <a:noFill/>
        </p:spPr>
        <p:txBody>
          <a:bodyPr wrap="square" anchor="ctr" lIns="0" rIns="0" tIns="0" bIns="0">
            <a:spAutoFit/>
          </a:bodyPr>
          <a:lstStyle/>
          <a:p>
            <a:pPr algn="l">
              <a:lnSpc>
                <a:spcPct val="95000"/>
              </a:lnSpc>
            </a:pPr>
            <a:r>
              <a:rPr sz="1150" b="1" i="0">
                <a:solidFill>
                  <a:srgbClr val="EAF0FF"/>
                </a:solidFill>
                <a:latin typeface="Arial"/>
              </a:rPr>
              <a:t>CleanCorp Industrial Solutions</a:t>
            </a:r>
          </a:p>
        </p:txBody>
      </p:sp>
      <p:sp>
        <p:nvSpPr>
          <p:cNvPr id="13" name="TextBox 12"/>
          <p:cNvSpPr txBox="1"/>
          <p:nvPr/>
        </p:nvSpPr>
        <p:spPr>
          <a:xfrm>
            <a:off x="3703320" y="2121408"/>
            <a:ext cx="4023360" cy="521207"/>
          </a:xfrm>
          <a:prstGeom prst="rect">
            <a:avLst/>
          </a:prstGeom>
          <a:noFill/>
        </p:spPr>
        <p:txBody>
          <a:bodyPr wrap="square" anchor="ctr" lIns="0" rIns="0" tIns="0" bIns="0">
            <a:spAutoFit/>
          </a:bodyPr>
          <a:lstStyle/>
          <a:p>
            <a:pPr algn="l">
              <a:lnSpc>
                <a:spcPct val="95000"/>
              </a:lnSpc>
            </a:pPr>
            <a:r>
              <a:rPr sz="1050" b="0" i="0">
                <a:solidFill>
                  <a:srgbClr val="93A1C0"/>
                </a:solidFill>
                <a:latin typeface="Arial"/>
              </a:rPr>
              <a:t>Fully compliant · signed &amp; valid</a:t>
            </a:r>
          </a:p>
        </p:txBody>
      </p:sp>
      <p:sp>
        <p:nvSpPr>
          <p:cNvPr id="14" name="TextBox 13"/>
          <p:cNvSpPr txBox="1"/>
          <p:nvPr/>
        </p:nvSpPr>
        <p:spPr>
          <a:xfrm>
            <a:off x="7772400" y="2121408"/>
            <a:ext cx="1188720" cy="521207"/>
          </a:xfrm>
          <a:prstGeom prst="rect">
            <a:avLst/>
          </a:prstGeom>
          <a:noFill/>
        </p:spPr>
        <p:txBody>
          <a:bodyPr wrap="square" anchor="ctr" lIns="0" rIns="0" tIns="0" bIns="0">
            <a:spAutoFit/>
          </a:bodyPr>
          <a:lstStyle/>
          <a:p>
            <a:pPr algn="ctr"/>
            <a:r>
              <a:rPr sz="1400" b="1" i="0">
                <a:solidFill>
                  <a:srgbClr val="34D399"/>
                </a:solidFill>
                <a:latin typeface="Arial"/>
              </a:rPr>
              <a:t>95.0</a:t>
            </a:r>
          </a:p>
        </p:txBody>
      </p:sp>
      <p:sp>
        <p:nvSpPr>
          <p:cNvPr id="15" name="TextBox 14"/>
          <p:cNvSpPr txBox="1"/>
          <p:nvPr/>
        </p:nvSpPr>
        <p:spPr>
          <a:xfrm>
            <a:off x="9052560" y="2121408"/>
            <a:ext cx="1188720" cy="521207"/>
          </a:xfrm>
          <a:prstGeom prst="rect">
            <a:avLst/>
          </a:prstGeom>
          <a:noFill/>
        </p:spPr>
        <p:txBody>
          <a:bodyPr wrap="square" anchor="ctr" lIns="0" rIns="0" tIns="0" bIns="0">
            <a:spAutoFit/>
          </a:bodyPr>
          <a:lstStyle/>
          <a:p>
            <a:pPr algn="ctr"/>
            <a:r>
              <a:rPr sz="1200" b="1" i="0">
                <a:solidFill>
                  <a:srgbClr val="34D399"/>
                </a:solidFill>
                <a:latin typeface="Arial"/>
              </a:rPr>
              <a:t>Low</a:t>
            </a:r>
          </a:p>
        </p:txBody>
      </p:sp>
      <p:sp>
        <p:nvSpPr>
          <p:cNvPr id="16" name="Rounded Rectangle 15"/>
          <p:cNvSpPr/>
          <p:nvPr/>
        </p:nvSpPr>
        <p:spPr>
          <a:xfrm>
            <a:off x="10314432" y="2226564"/>
            <a:ext cx="1188720" cy="310896"/>
          </a:xfrm>
          <a:prstGeom prst="roundRect">
            <a:avLst>
              <a:gd name="adj" fmla="val 50000"/>
            </a:avLst>
          </a:prstGeom>
          <a:solidFill>
            <a:srgbClr val="1036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34D399"/>
                </a:solidFill>
                <a:latin typeface="Arial"/>
              </a:rPr>
              <a:t>Qualify</a:t>
            </a:r>
          </a:p>
        </p:txBody>
      </p:sp>
      <p:sp>
        <p:nvSpPr>
          <p:cNvPr id="17" name="Rounded Rectangle 16"/>
          <p:cNvSpPr/>
          <p:nvPr/>
        </p:nvSpPr>
        <p:spPr>
          <a:xfrm>
            <a:off x="640080" y="2706624"/>
            <a:ext cx="10881360" cy="521207"/>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2894076"/>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2706624"/>
            <a:ext cx="2578608" cy="521207"/>
          </a:xfrm>
          <a:prstGeom prst="rect">
            <a:avLst/>
          </a:prstGeom>
          <a:noFill/>
        </p:spPr>
        <p:txBody>
          <a:bodyPr wrap="square" anchor="ctr" lIns="0" rIns="0" tIns="0" bIns="0">
            <a:spAutoFit/>
          </a:bodyPr>
          <a:lstStyle/>
          <a:p>
            <a:pPr algn="l">
              <a:lnSpc>
                <a:spcPct val="95000"/>
              </a:lnSpc>
            </a:pPr>
            <a:r>
              <a:rPr sz="1150" b="1" i="0">
                <a:solidFill>
                  <a:srgbClr val="EAF0FF"/>
                </a:solidFill>
                <a:latin typeface="Arial"/>
              </a:rPr>
              <a:t>Southern Pumps LLP</a:t>
            </a:r>
          </a:p>
        </p:txBody>
      </p:sp>
      <p:sp>
        <p:nvSpPr>
          <p:cNvPr id="20" name="TextBox 19"/>
          <p:cNvSpPr txBox="1"/>
          <p:nvPr/>
        </p:nvSpPr>
        <p:spPr>
          <a:xfrm>
            <a:off x="3703320" y="2706624"/>
            <a:ext cx="4023360" cy="521207"/>
          </a:xfrm>
          <a:prstGeom prst="rect">
            <a:avLst/>
          </a:prstGeom>
          <a:noFill/>
        </p:spPr>
        <p:txBody>
          <a:bodyPr wrap="square" anchor="ctr" lIns="0" rIns="0" tIns="0" bIns="0">
            <a:spAutoFit/>
          </a:bodyPr>
          <a:lstStyle/>
          <a:p>
            <a:pPr algn="l">
              <a:lnSpc>
                <a:spcPct val="95000"/>
              </a:lnSpc>
            </a:pPr>
            <a:r>
              <a:rPr sz="1050" b="0" i="0">
                <a:solidFill>
                  <a:srgbClr val="93A1C0"/>
                </a:solidFill>
                <a:latin typeface="Arial"/>
              </a:rPr>
              <a:t>Compliant manufacturer · no OEM needed</a:t>
            </a:r>
          </a:p>
        </p:txBody>
      </p:sp>
      <p:sp>
        <p:nvSpPr>
          <p:cNvPr id="21" name="TextBox 20"/>
          <p:cNvSpPr txBox="1"/>
          <p:nvPr/>
        </p:nvSpPr>
        <p:spPr>
          <a:xfrm>
            <a:off x="7772400" y="2706624"/>
            <a:ext cx="1188720" cy="521207"/>
          </a:xfrm>
          <a:prstGeom prst="rect">
            <a:avLst/>
          </a:prstGeom>
          <a:noFill/>
        </p:spPr>
        <p:txBody>
          <a:bodyPr wrap="square" anchor="ctr" lIns="0" rIns="0" tIns="0" bIns="0">
            <a:spAutoFit/>
          </a:bodyPr>
          <a:lstStyle/>
          <a:p>
            <a:pPr algn="ctr"/>
            <a:r>
              <a:rPr sz="1400" b="1" i="0">
                <a:solidFill>
                  <a:srgbClr val="34D399"/>
                </a:solidFill>
                <a:latin typeface="Arial"/>
              </a:rPr>
              <a:t>96.7</a:t>
            </a:r>
          </a:p>
        </p:txBody>
      </p:sp>
      <p:sp>
        <p:nvSpPr>
          <p:cNvPr id="22" name="TextBox 21"/>
          <p:cNvSpPr txBox="1"/>
          <p:nvPr/>
        </p:nvSpPr>
        <p:spPr>
          <a:xfrm>
            <a:off x="9052560" y="2706624"/>
            <a:ext cx="1188720" cy="521207"/>
          </a:xfrm>
          <a:prstGeom prst="rect">
            <a:avLst/>
          </a:prstGeom>
          <a:noFill/>
        </p:spPr>
        <p:txBody>
          <a:bodyPr wrap="square" anchor="ctr" lIns="0" rIns="0" tIns="0" bIns="0">
            <a:spAutoFit/>
          </a:bodyPr>
          <a:lstStyle/>
          <a:p>
            <a:pPr algn="ctr"/>
            <a:r>
              <a:rPr sz="1200" b="1" i="0">
                <a:solidFill>
                  <a:srgbClr val="34D399"/>
                </a:solidFill>
                <a:latin typeface="Arial"/>
              </a:rPr>
              <a:t>Low</a:t>
            </a:r>
          </a:p>
        </p:txBody>
      </p:sp>
      <p:sp>
        <p:nvSpPr>
          <p:cNvPr id="23" name="Rounded Rectangle 22"/>
          <p:cNvSpPr/>
          <p:nvPr/>
        </p:nvSpPr>
        <p:spPr>
          <a:xfrm>
            <a:off x="10314432" y="2811780"/>
            <a:ext cx="1188720" cy="310896"/>
          </a:xfrm>
          <a:prstGeom prst="roundRect">
            <a:avLst>
              <a:gd name="adj" fmla="val 50000"/>
            </a:avLst>
          </a:prstGeom>
          <a:solidFill>
            <a:srgbClr val="1036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34D399"/>
                </a:solidFill>
                <a:latin typeface="Arial"/>
              </a:rPr>
              <a:t>Qualify</a:t>
            </a:r>
          </a:p>
        </p:txBody>
      </p:sp>
      <p:sp>
        <p:nvSpPr>
          <p:cNvPr id="24" name="Rounded Rectangle 23"/>
          <p:cNvSpPr/>
          <p:nvPr/>
        </p:nvSpPr>
        <p:spPr>
          <a:xfrm>
            <a:off x="640080" y="3291839"/>
            <a:ext cx="10881360" cy="521207"/>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3479291"/>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3291839"/>
            <a:ext cx="2578608" cy="521207"/>
          </a:xfrm>
          <a:prstGeom prst="rect">
            <a:avLst/>
          </a:prstGeom>
          <a:noFill/>
        </p:spPr>
        <p:txBody>
          <a:bodyPr wrap="square" anchor="ctr" lIns="0" rIns="0" tIns="0" bIns="0">
            <a:spAutoFit/>
          </a:bodyPr>
          <a:lstStyle/>
          <a:p>
            <a:pPr algn="l">
              <a:lnSpc>
                <a:spcPct val="95000"/>
              </a:lnSpc>
            </a:pPr>
            <a:r>
              <a:rPr sz="1150" b="1" i="0">
                <a:solidFill>
                  <a:srgbClr val="EAF0FF"/>
                </a:solidFill>
                <a:latin typeface="Arial"/>
              </a:rPr>
              <a:t>QuickSpares Trading Co.</a:t>
            </a:r>
          </a:p>
        </p:txBody>
      </p:sp>
      <p:sp>
        <p:nvSpPr>
          <p:cNvPr id="27" name="TextBox 26"/>
          <p:cNvSpPr txBox="1"/>
          <p:nvPr/>
        </p:nvSpPr>
        <p:spPr>
          <a:xfrm>
            <a:off x="3703320" y="3291839"/>
            <a:ext cx="4023360" cy="521207"/>
          </a:xfrm>
          <a:prstGeom prst="rect">
            <a:avLst/>
          </a:prstGeom>
          <a:noFill/>
        </p:spPr>
        <p:txBody>
          <a:bodyPr wrap="square" anchor="ctr" lIns="0" rIns="0" tIns="0" bIns="0">
            <a:spAutoFit/>
          </a:bodyPr>
          <a:lstStyle/>
          <a:p>
            <a:pPr algn="l">
              <a:lnSpc>
                <a:spcPct val="95000"/>
              </a:lnSpc>
            </a:pPr>
            <a:r>
              <a:rPr sz="1050" b="1" i="0">
                <a:solidFill>
                  <a:srgbClr val="31C8D6"/>
                </a:solidFill>
                <a:latin typeface="Arial"/>
              </a:rPr>
              <a:t>Compliant alone — but colluding</a:t>
            </a:r>
          </a:p>
        </p:txBody>
      </p:sp>
      <p:sp>
        <p:nvSpPr>
          <p:cNvPr id="28" name="TextBox 27"/>
          <p:cNvSpPr txBox="1"/>
          <p:nvPr/>
        </p:nvSpPr>
        <p:spPr>
          <a:xfrm>
            <a:off x="7772400" y="3291839"/>
            <a:ext cx="1188720" cy="521207"/>
          </a:xfrm>
          <a:prstGeom prst="rect">
            <a:avLst/>
          </a:prstGeom>
          <a:noFill/>
        </p:spPr>
        <p:txBody>
          <a:bodyPr wrap="square" anchor="ctr" lIns="0" rIns="0" tIns="0" bIns="0">
            <a:spAutoFit/>
          </a:bodyPr>
          <a:lstStyle/>
          <a:p>
            <a:pPr algn="ctr"/>
            <a:r>
              <a:rPr sz="1400" b="1" i="0">
                <a:solidFill>
                  <a:srgbClr val="34D399"/>
                </a:solidFill>
                <a:latin typeface="Arial"/>
              </a:rPr>
              <a:t>96.2</a:t>
            </a:r>
          </a:p>
        </p:txBody>
      </p:sp>
      <p:sp>
        <p:nvSpPr>
          <p:cNvPr id="29" name="TextBox 28"/>
          <p:cNvSpPr txBox="1"/>
          <p:nvPr/>
        </p:nvSpPr>
        <p:spPr>
          <a:xfrm>
            <a:off x="9052560" y="3291839"/>
            <a:ext cx="1188720" cy="521207"/>
          </a:xfrm>
          <a:prstGeom prst="rect">
            <a:avLst/>
          </a:prstGeom>
          <a:noFill/>
        </p:spPr>
        <p:txBody>
          <a:bodyPr wrap="square" anchor="ctr" lIns="0" rIns="0" tIns="0" bIns="0">
            <a:spAutoFit/>
          </a:bodyPr>
          <a:lstStyle/>
          <a:p>
            <a:pPr algn="ctr"/>
            <a:r>
              <a:rPr sz="1200" b="1" i="0">
                <a:solidFill>
                  <a:srgbClr val="34D399"/>
                </a:solidFill>
                <a:latin typeface="Arial"/>
              </a:rPr>
              <a:t>Low</a:t>
            </a:r>
          </a:p>
        </p:txBody>
      </p:sp>
      <p:sp>
        <p:nvSpPr>
          <p:cNvPr id="30" name="Rounded Rectangle 29"/>
          <p:cNvSpPr/>
          <p:nvPr/>
        </p:nvSpPr>
        <p:spPr>
          <a:xfrm>
            <a:off x="10314432" y="3396996"/>
            <a:ext cx="1188720" cy="310896"/>
          </a:xfrm>
          <a:prstGeom prst="roundRect">
            <a:avLst>
              <a:gd name="adj" fmla="val 50000"/>
            </a:avLst>
          </a:prstGeom>
          <a:solidFill>
            <a:srgbClr val="1036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34D399"/>
                </a:solidFill>
                <a:latin typeface="Arial"/>
              </a:rPr>
              <a:t>Qualify</a:t>
            </a:r>
          </a:p>
        </p:txBody>
      </p:sp>
      <p:sp>
        <p:nvSpPr>
          <p:cNvPr id="31" name="Rounded Rectangle 30"/>
          <p:cNvSpPr/>
          <p:nvPr/>
        </p:nvSpPr>
        <p:spPr>
          <a:xfrm>
            <a:off x="640080" y="3877055"/>
            <a:ext cx="10881360" cy="521207"/>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60" y="4064507"/>
            <a:ext cx="146304" cy="146304"/>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3877055"/>
            <a:ext cx="2578608" cy="521207"/>
          </a:xfrm>
          <a:prstGeom prst="rect">
            <a:avLst/>
          </a:prstGeom>
          <a:noFill/>
        </p:spPr>
        <p:txBody>
          <a:bodyPr wrap="square" anchor="ctr" lIns="0" rIns="0" tIns="0" bIns="0">
            <a:spAutoFit/>
          </a:bodyPr>
          <a:lstStyle/>
          <a:p>
            <a:pPr algn="l">
              <a:lnSpc>
                <a:spcPct val="95000"/>
              </a:lnSpc>
            </a:pPr>
            <a:r>
              <a:rPr sz="1150" b="1" i="0">
                <a:solidFill>
                  <a:srgbClr val="EAF0FF"/>
                </a:solidFill>
                <a:latin typeface="Arial"/>
              </a:rPr>
              <a:t>FrontRunner Pumps Pvt. Ltd.</a:t>
            </a:r>
          </a:p>
        </p:txBody>
      </p:sp>
      <p:sp>
        <p:nvSpPr>
          <p:cNvPr id="34" name="TextBox 33"/>
          <p:cNvSpPr txBox="1"/>
          <p:nvPr/>
        </p:nvSpPr>
        <p:spPr>
          <a:xfrm>
            <a:off x="3703320" y="3877055"/>
            <a:ext cx="4023360" cy="521207"/>
          </a:xfrm>
          <a:prstGeom prst="rect">
            <a:avLst/>
          </a:prstGeom>
          <a:noFill/>
        </p:spPr>
        <p:txBody>
          <a:bodyPr wrap="square" anchor="ctr" lIns="0" rIns="0" tIns="0" bIns="0">
            <a:spAutoFit/>
          </a:bodyPr>
          <a:lstStyle/>
          <a:p>
            <a:pPr algn="l">
              <a:lnSpc>
                <a:spcPct val="95000"/>
              </a:lnSpc>
            </a:pPr>
            <a:r>
              <a:rPr sz="1050" b="1" i="0">
                <a:solidFill>
                  <a:srgbClr val="31C8D6"/>
                </a:solidFill>
                <a:latin typeface="Arial"/>
              </a:rPr>
              <a:t>Clean alone — shares bank + signatory</a:t>
            </a:r>
          </a:p>
        </p:txBody>
      </p:sp>
      <p:sp>
        <p:nvSpPr>
          <p:cNvPr id="35" name="TextBox 34"/>
          <p:cNvSpPr txBox="1"/>
          <p:nvPr/>
        </p:nvSpPr>
        <p:spPr>
          <a:xfrm>
            <a:off x="7772400" y="3877055"/>
            <a:ext cx="1188720" cy="521207"/>
          </a:xfrm>
          <a:prstGeom prst="rect">
            <a:avLst/>
          </a:prstGeom>
          <a:noFill/>
        </p:spPr>
        <p:txBody>
          <a:bodyPr wrap="square" anchor="ctr" lIns="0" rIns="0" tIns="0" bIns="0">
            <a:spAutoFit/>
          </a:bodyPr>
          <a:lstStyle/>
          <a:p>
            <a:pPr algn="ctr"/>
            <a:r>
              <a:rPr sz="1400" b="1" i="0">
                <a:solidFill>
                  <a:srgbClr val="FBBF24"/>
                </a:solidFill>
                <a:latin typeface="Arial"/>
              </a:rPr>
              <a:t>90.6</a:t>
            </a:r>
          </a:p>
        </p:txBody>
      </p:sp>
      <p:sp>
        <p:nvSpPr>
          <p:cNvPr id="36" name="TextBox 35"/>
          <p:cNvSpPr txBox="1"/>
          <p:nvPr/>
        </p:nvSpPr>
        <p:spPr>
          <a:xfrm>
            <a:off x="9052560" y="3877055"/>
            <a:ext cx="1188720" cy="521207"/>
          </a:xfrm>
          <a:prstGeom prst="rect">
            <a:avLst/>
          </a:prstGeom>
          <a:noFill/>
        </p:spPr>
        <p:txBody>
          <a:bodyPr wrap="square" anchor="ctr" lIns="0" rIns="0" tIns="0" bIns="0">
            <a:spAutoFit/>
          </a:bodyPr>
          <a:lstStyle/>
          <a:p>
            <a:pPr algn="ctr"/>
            <a:r>
              <a:rPr sz="1200" b="1" i="0">
                <a:solidFill>
                  <a:srgbClr val="FBBF24"/>
                </a:solidFill>
                <a:latin typeface="Arial"/>
              </a:rPr>
              <a:t>Medium</a:t>
            </a:r>
          </a:p>
        </p:txBody>
      </p:sp>
      <p:sp>
        <p:nvSpPr>
          <p:cNvPr id="37" name="Rounded Rectangle 36"/>
          <p:cNvSpPr/>
          <p:nvPr/>
        </p:nvSpPr>
        <p:spPr>
          <a:xfrm>
            <a:off x="10314432" y="3982211"/>
            <a:ext cx="1188720" cy="310896"/>
          </a:xfrm>
          <a:prstGeom prst="roundRect">
            <a:avLst>
              <a:gd name="adj" fmla="val 50000"/>
            </a:avLst>
          </a:prstGeom>
          <a:solidFill>
            <a:srgbClr val="3A2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FBBF24"/>
                </a:solidFill>
                <a:latin typeface="Arial"/>
              </a:rPr>
              <a:t>Review</a:t>
            </a:r>
          </a:p>
        </p:txBody>
      </p:sp>
      <p:sp>
        <p:nvSpPr>
          <p:cNvPr id="38" name="Rounded Rectangle 37"/>
          <p:cNvSpPr/>
          <p:nvPr/>
        </p:nvSpPr>
        <p:spPr>
          <a:xfrm>
            <a:off x="640080" y="4462271"/>
            <a:ext cx="10881360" cy="521207"/>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2960" y="4649723"/>
            <a:ext cx="146304" cy="146304"/>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 y="4462271"/>
            <a:ext cx="2578608" cy="521207"/>
          </a:xfrm>
          <a:prstGeom prst="rect">
            <a:avLst/>
          </a:prstGeom>
          <a:noFill/>
        </p:spPr>
        <p:txBody>
          <a:bodyPr wrap="square" anchor="ctr" lIns="0" rIns="0" tIns="0" bIns="0">
            <a:spAutoFit/>
          </a:bodyPr>
          <a:lstStyle/>
          <a:p>
            <a:pPr algn="l">
              <a:lnSpc>
                <a:spcPct val="95000"/>
              </a:lnSpc>
            </a:pPr>
            <a:r>
              <a:rPr sz="1150" b="1" i="0">
                <a:solidFill>
                  <a:srgbClr val="EAF0FF"/>
                </a:solidFill>
                <a:latin typeface="Arial"/>
              </a:rPr>
              <a:t>Kaveri Engineering Works</a:t>
            </a:r>
          </a:p>
        </p:txBody>
      </p:sp>
      <p:sp>
        <p:nvSpPr>
          <p:cNvPr id="41" name="TextBox 40"/>
          <p:cNvSpPr txBox="1"/>
          <p:nvPr/>
        </p:nvSpPr>
        <p:spPr>
          <a:xfrm>
            <a:off x="3703320" y="4462271"/>
            <a:ext cx="4023360" cy="521207"/>
          </a:xfrm>
          <a:prstGeom prst="rect">
            <a:avLst/>
          </a:prstGeom>
          <a:noFill/>
        </p:spPr>
        <p:txBody>
          <a:bodyPr wrap="square" anchor="ctr" lIns="0" rIns="0" tIns="0" bIns="0">
            <a:spAutoFit/>
          </a:bodyPr>
          <a:lstStyle/>
          <a:p>
            <a:pPr algn="l">
              <a:lnSpc>
                <a:spcPct val="95000"/>
              </a:lnSpc>
            </a:pPr>
            <a:r>
              <a:rPr sz="1050" b="0" i="0">
                <a:solidFill>
                  <a:srgbClr val="93A1C0"/>
                </a:solidFill>
                <a:latin typeface="Arial"/>
              </a:rPr>
              <a:t>Unsigned scans · expired startup</a:t>
            </a:r>
          </a:p>
        </p:txBody>
      </p:sp>
      <p:sp>
        <p:nvSpPr>
          <p:cNvPr id="42" name="TextBox 41"/>
          <p:cNvSpPr txBox="1"/>
          <p:nvPr/>
        </p:nvSpPr>
        <p:spPr>
          <a:xfrm>
            <a:off x="7772400" y="4462271"/>
            <a:ext cx="1188720" cy="521207"/>
          </a:xfrm>
          <a:prstGeom prst="rect">
            <a:avLst/>
          </a:prstGeom>
          <a:noFill/>
        </p:spPr>
        <p:txBody>
          <a:bodyPr wrap="square" anchor="ctr" lIns="0" rIns="0" tIns="0" bIns="0">
            <a:spAutoFit/>
          </a:bodyPr>
          <a:lstStyle/>
          <a:p>
            <a:pPr algn="ctr"/>
            <a:r>
              <a:rPr sz="1400" b="1" i="0">
                <a:solidFill>
                  <a:srgbClr val="FBBF24"/>
                </a:solidFill>
                <a:latin typeface="Arial"/>
              </a:rPr>
              <a:t>90.1</a:t>
            </a:r>
          </a:p>
        </p:txBody>
      </p:sp>
      <p:sp>
        <p:nvSpPr>
          <p:cNvPr id="43" name="TextBox 42"/>
          <p:cNvSpPr txBox="1"/>
          <p:nvPr/>
        </p:nvSpPr>
        <p:spPr>
          <a:xfrm>
            <a:off x="9052560" y="4462271"/>
            <a:ext cx="1188720" cy="521207"/>
          </a:xfrm>
          <a:prstGeom prst="rect">
            <a:avLst/>
          </a:prstGeom>
          <a:noFill/>
        </p:spPr>
        <p:txBody>
          <a:bodyPr wrap="square" anchor="ctr" lIns="0" rIns="0" tIns="0" bIns="0">
            <a:spAutoFit/>
          </a:bodyPr>
          <a:lstStyle/>
          <a:p>
            <a:pPr algn="ctr"/>
            <a:r>
              <a:rPr sz="1200" b="1" i="0">
                <a:solidFill>
                  <a:srgbClr val="FBBF24"/>
                </a:solidFill>
                <a:latin typeface="Arial"/>
              </a:rPr>
              <a:t>Medium</a:t>
            </a:r>
          </a:p>
        </p:txBody>
      </p:sp>
      <p:sp>
        <p:nvSpPr>
          <p:cNvPr id="44" name="Rounded Rectangle 43"/>
          <p:cNvSpPr/>
          <p:nvPr/>
        </p:nvSpPr>
        <p:spPr>
          <a:xfrm>
            <a:off x="10314432" y="4567427"/>
            <a:ext cx="1188720" cy="310896"/>
          </a:xfrm>
          <a:prstGeom prst="roundRect">
            <a:avLst>
              <a:gd name="adj" fmla="val 50000"/>
            </a:avLst>
          </a:prstGeom>
          <a:solidFill>
            <a:srgbClr val="3A2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FBBF24"/>
                </a:solidFill>
                <a:latin typeface="Arial"/>
              </a:rPr>
              <a:t>Review</a:t>
            </a:r>
          </a:p>
        </p:txBody>
      </p:sp>
      <p:sp>
        <p:nvSpPr>
          <p:cNvPr id="45" name="Rounded Rectangle 44"/>
          <p:cNvSpPr/>
          <p:nvPr/>
        </p:nvSpPr>
        <p:spPr>
          <a:xfrm>
            <a:off x="640080" y="5047487"/>
            <a:ext cx="10881360" cy="521207"/>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22960" y="5234939"/>
            <a:ext cx="146304" cy="146304"/>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047487"/>
            <a:ext cx="2578608" cy="521207"/>
          </a:xfrm>
          <a:prstGeom prst="rect">
            <a:avLst/>
          </a:prstGeom>
          <a:noFill/>
        </p:spPr>
        <p:txBody>
          <a:bodyPr wrap="square" anchor="ctr" lIns="0" rIns="0" tIns="0" bIns="0">
            <a:spAutoFit/>
          </a:bodyPr>
          <a:lstStyle/>
          <a:p>
            <a:pPr algn="l">
              <a:lnSpc>
                <a:spcPct val="95000"/>
              </a:lnSpc>
            </a:pPr>
            <a:r>
              <a:rPr sz="1150" b="1" i="0">
                <a:solidFill>
                  <a:srgbClr val="EAF0FF"/>
                </a:solidFill>
                <a:latin typeface="Arial"/>
              </a:rPr>
              <a:t>Borderline Traders</a:t>
            </a:r>
          </a:p>
        </p:txBody>
      </p:sp>
      <p:sp>
        <p:nvSpPr>
          <p:cNvPr id="48" name="TextBox 47"/>
          <p:cNvSpPr txBox="1"/>
          <p:nvPr/>
        </p:nvSpPr>
        <p:spPr>
          <a:xfrm>
            <a:off x="3703320" y="5047487"/>
            <a:ext cx="4023360" cy="521207"/>
          </a:xfrm>
          <a:prstGeom prst="rect">
            <a:avLst/>
          </a:prstGeom>
          <a:noFill/>
        </p:spPr>
        <p:txBody>
          <a:bodyPr wrap="square" anchor="ctr" lIns="0" rIns="0" tIns="0" bIns="0">
            <a:spAutoFit/>
          </a:bodyPr>
          <a:lstStyle/>
          <a:p>
            <a:pPr algn="l">
              <a:lnSpc>
                <a:spcPct val="95000"/>
              </a:lnSpc>
            </a:pPr>
            <a:r>
              <a:rPr sz="1050" b="0" i="0">
                <a:solidFill>
                  <a:srgbClr val="93A1C0"/>
                </a:solidFill>
                <a:latin typeface="Arial"/>
              </a:rPr>
              <a:t>GST returns unfiled · PAN/Udyam name mismatch</a:t>
            </a:r>
          </a:p>
        </p:txBody>
      </p:sp>
      <p:sp>
        <p:nvSpPr>
          <p:cNvPr id="49" name="TextBox 48"/>
          <p:cNvSpPr txBox="1"/>
          <p:nvPr/>
        </p:nvSpPr>
        <p:spPr>
          <a:xfrm>
            <a:off x="7772400" y="5047487"/>
            <a:ext cx="1188720" cy="521207"/>
          </a:xfrm>
          <a:prstGeom prst="rect">
            <a:avLst/>
          </a:prstGeom>
          <a:noFill/>
        </p:spPr>
        <p:txBody>
          <a:bodyPr wrap="square" anchor="ctr" lIns="0" rIns="0" tIns="0" bIns="0">
            <a:spAutoFit/>
          </a:bodyPr>
          <a:lstStyle/>
          <a:p>
            <a:pPr algn="ctr"/>
            <a:r>
              <a:rPr sz="1400" b="1" i="0">
                <a:solidFill>
                  <a:srgbClr val="FBBF24"/>
                </a:solidFill>
                <a:latin typeface="Arial"/>
              </a:rPr>
              <a:t>87.5</a:t>
            </a:r>
          </a:p>
        </p:txBody>
      </p:sp>
      <p:sp>
        <p:nvSpPr>
          <p:cNvPr id="50" name="TextBox 49"/>
          <p:cNvSpPr txBox="1"/>
          <p:nvPr/>
        </p:nvSpPr>
        <p:spPr>
          <a:xfrm>
            <a:off x="9052560" y="5047487"/>
            <a:ext cx="1188720" cy="521207"/>
          </a:xfrm>
          <a:prstGeom prst="rect">
            <a:avLst/>
          </a:prstGeom>
          <a:noFill/>
        </p:spPr>
        <p:txBody>
          <a:bodyPr wrap="square" anchor="ctr" lIns="0" rIns="0" tIns="0" bIns="0">
            <a:spAutoFit/>
          </a:bodyPr>
          <a:lstStyle/>
          <a:p>
            <a:pPr algn="ctr"/>
            <a:r>
              <a:rPr sz="1200" b="1" i="0">
                <a:solidFill>
                  <a:srgbClr val="FBBF24"/>
                </a:solidFill>
                <a:latin typeface="Arial"/>
              </a:rPr>
              <a:t>Medium</a:t>
            </a:r>
          </a:p>
        </p:txBody>
      </p:sp>
      <p:sp>
        <p:nvSpPr>
          <p:cNvPr id="51" name="Rounded Rectangle 50"/>
          <p:cNvSpPr/>
          <p:nvPr/>
        </p:nvSpPr>
        <p:spPr>
          <a:xfrm>
            <a:off x="10314432" y="5152643"/>
            <a:ext cx="1188720" cy="310896"/>
          </a:xfrm>
          <a:prstGeom prst="roundRect">
            <a:avLst>
              <a:gd name="adj" fmla="val 50000"/>
            </a:avLst>
          </a:prstGeom>
          <a:solidFill>
            <a:srgbClr val="3A2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FBBF24"/>
                </a:solidFill>
                <a:latin typeface="Arial"/>
              </a:rPr>
              <a:t>Review</a:t>
            </a:r>
          </a:p>
        </p:txBody>
      </p:sp>
      <p:sp>
        <p:nvSpPr>
          <p:cNvPr id="52" name="Rounded Rectangle 51"/>
          <p:cNvSpPr/>
          <p:nvPr/>
        </p:nvSpPr>
        <p:spPr>
          <a:xfrm>
            <a:off x="640080" y="5632703"/>
            <a:ext cx="10881360" cy="521207"/>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22960" y="5820155"/>
            <a:ext cx="146304" cy="146304"/>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32703"/>
            <a:ext cx="2578608" cy="521207"/>
          </a:xfrm>
          <a:prstGeom prst="rect">
            <a:avLst/>
          </a:prstGeom>
          <a:noFill/>
        </p:spPr>
        <p:txBody>
          <a:bodyPr wrap="square" anchor="ctr" lIns="0" rIns="0" tIns="0" bIns="0">
            <a:spAutoFit/>
          </a:bodyPr>
          <a:lstStyle/>
          <a:p>
            <a:pPr algn="l">
              <a:lnSpc>
                <a:spcPct val="95000"/>
              </a:lnSpc>
            </a:pPr>
            <a:r>
              <a:rPr sz="1150" b="1" i="0">
                <a:solidFill>
                  <a:srgbClr val="EAF0FF"/>
                </a:solidFill>
                <a:latin typeface="Arial"/>
              </a:rPr>
              <a:t>FraudFillers Traders</a:t>
            </a:r>
          </a:p>
        </p:txBody>
      </p:sp>
      <p:sp>
        <p:nvSpPr>
          <p:cNvPr id="55" name="TextBox 54"/>
          <p:cNvSpPr txBox="1"/>
          <p:nvPr/>
        </p:nvSpPr>
        <p:spPr>
          <a:xfrm>
            <a:off x="3703320" y="5632703"/>
            <a:ext cx="4023360" cy="521207"/>
          </a:xfrm>
          <a:prstGeom prst="rect">
            <a:avLst/>
          </a:prstGeom>
          <a:noFill/>
        </p:spPr>
        <p:txBody>
          <a:bodyPr wrap="square" anchor="ctr" lIns="0" rIns="0" tIns="0" bIns="0">
            <a:spAutoFit/>
          </a:bodyPr>
          <a:lstStyle/>
          <a:p>
            <a:pPr algn="l">
              <a:lnSpc>
                <a:spcPct val="95000"/>
              </a:lnSpc>
            </a:pPr>
            <a:r>
              <a:rPr sz="1050" b="0" i="0">
                <a:solidFill>
                  <a:srgbClr val="93A1C0"/>
                </a:solidFill>
                <a:latin typeface="Arial"/>
              </a:rPr>
              <a:t>Forged cert · blacklisted · cancelled GST · inflated MII</a:t>
            </a:r>
          </a:p>
        </p:txBody>
      </p:sp>
      <p:sp>
        <p:nvSpPr>
          <p:cNvPr id="56" name="TextBox 55"/>
          <p:cNvSpPr txBox="1"/>
          <p:nvPr/>
        </p:nvSpPr>
        <p:spPr>
          <a:xfrm>
            <a:off x="7772400" y="5632703"/>
            <a:ext cx="1188720" cy="521207"/>
          </a:xfrm>
          <a:prstGeom prst="rect">
            <a:avLst/>
          </a:prstGeom>
          <a:noFill/>
        </p:spPr>
        <p:txBody>
          <a:bodyPr wrap="square" anchor="ctr" lIns="0" rIns="0" tIns="0" bIns="0">
            <a:spAutoFit/>
          </a:bodyPr>
          <a:lstStyle/>
          <a:p>
            <a:pPr algn="ctr"/>
            <a:r>
              <a:rPr sz="1400" b="1" i="0">
                <a:solidFill>
                  <a:srgbClr val="F87171"/>
                </a:solidFill>
                <a:latin typeface="Arial"/>
              </a:rPr>
              <a:t>25.0</a:t>
            </a:r>
          </a:p>
        </p:txBody>
      </p:sp>
      <p:sp>
        <p:nvSpPr>
          <p:cNvPr id="57" name="TextBox 56"/>
          <p:cNvSpPr txBox="1"/>
          <p:nvPr/>
        </p:nvSpPr>
        <p:spPr>
          <a:xfrm>
            <a:off x="9052560" y="5632703"/>
            <a:ext cx="1188720" cy="521207"/>
          </a:xfrm>
          <a:prstGeom prst="rect">
            <a:avLst/>
          </a:prstGeom>
          <a:noFill/>
        </p:spPr>
        <p:txBody>
          <a:bodyPr wrap="square" anchor="ctr" lIns="0" rIns="0" tIns="0" bIns="0">
            <a:spAutoFit/>
          </a:bodyPr>
          <a:lstStyle/>
          <a:p>
            <a:pPr algn="ctr"/>
            <a:r>
              <a:rPr sz="1200" b="1" i="0">
                <a:solidFill>
                  <a:srgbClr val="F87171"/>
                </a:solidFill>
                <a:latin typeface="Arial"/>
              </a:rPr>
              <a:t>High</a:t>
            </a:r>
          </a:p>
        </p:txBody>
      </p:sp>
      <p:sp>
        <p:nvSpPr>
          <p:cNvPr id="58" name="Rounded Rectangle 57"/>
          <p:cNvSpPr/>
          <p:nvPr/>
        </p:nvSpPr>
        <p:spPr>
          <a:xfrm>
            <a:off x="10314432" y="5737859"/>
            <a:ext cx="1188720" cy="310896"/>
          </a:xfrm>
          <a:prstGeom prst="roundRect">
            <a:avLst>
              <a:gd name="adj" fmla="val 50000"/>
            </a:avLst>
          </a:prstGeom>
          <a:solidFill>
            <a:srgbClr val="3A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F87171"/>
                </a:solidFill>
                <a:latin typeface="Arial"/>
              </a:rPr>
              <a:t>Disqualify</a:t>
            </a:r>
          </a:p>
        </p:txBody>
      </p:sp>
      <p:sp>
        <p:nvSpPr>
          <p:cNvPr id="59" name="TextBox 58"/>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Tender: 'Supply of Industrial Pumps', Chennai Petroleum Corp. Ltd. · fully offline · rows 3–4 individually pass but are linked as a collusion cluster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UNDER THE HOOD</a:t>
            </a:r>
          </a:p>
        </p:txBody>
      </p:sp>
      <p:sp>
        <p:nvSpPr>
          <p:cNvPr id="4" name="TextBox 3"/>
          <p:cNvSpPr txBox="1"/>
          <p:nvPr/>
        </p:nvSpPr>
        <p:spPr>
          <a:xfrm>
            <a:off x="640080" y="914400"/>
            <a:ext cx="1097280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Modular, layered, and swappable</a:t>
            </a:r>
          </a:p>
        </p:txBody>
      </p:sp>
      <p:sp>
        <p:nvSpPr>
          <p:cNvPr id="5" name="Rounded Rectangle 4"/>
          <p:cNvSpPr/>
          <p:nvPr/>
        </p:nvSpPr>
        <p:spPr>
          <a:xfrm>
            <a:off x="640080" y="1965960"/>
            <a:ext cx="10881360" cy="621792"/>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185415"/>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1965960"/>
            <a:ext cx="2743200" cy="621792"/>
          </a:xfrm>
          <a:prstGeom prst="rect">
            <a:avLst/>
          </a:prstGeom>
          <a:noFill/>
        </p:spPr>
        <p:txBody>
          <a:bodyPr wrap="square" anchor="ctr" lIns="0" rIns="0" tIns="0" bIns="0">
            <a:spAutoFit/>
          </a:bodyPr>
          <a:lstStyle/>
          <a:p>
            <a:pPr algn="l"/>
            <a:r>
              <a:rPr sz="1400" b="1" i="0">
                <a:solidFill>
                  <a:srgbClr val="EAF0FF"/>
                </a:solidFill>
                <a:latin typeface="Arial"/>
              </a:rPr>
              <a:t>Frontend</a:t>
            </a:r>
          </a:p>
        </p:txBody>
      </p:sp>
      <p:sp>
        <p:nvSpPr>
          <p:cNvPr id="8" name="TextBox 7"/>
          <p:cNvSpPr txBox="1"/>
          <p:nvPr/>
        </p:nvSpPr>
        <p:spPr>
          <a:xfrm>
            <a:off x="4023360" y="1965960"/>
            <a:ext cx="7315200" cy="621792"/>
          </a:xfrm>
          <a:prstGeom prst="rect">
            <a:avLst/>
          </a:prstGeom>
          <a:noFill/>
        </p:spPr>
        <p:txBody>
          <a:bodyPr wrap="square" anchor="ctr" lIns="0" rIns="0" tIns="0" bIns="0">
            <a:spAutoFit/>
          </a:bodyPr>
          <a:lstStyle/>
          <a:p>
            <a:pPr algn="l"/>
            <a:r>
              <a:rPr sz="1250" b="0" i="0">
                <a:solidFill>
                  <a:srgbClr val="93A1C0"/>
                </a:solidFill>
                <a:latin typeface="Arial"/>
              </a:rPr>
              <a:t>React + TypeScript · officer / admin / auditor dashboards</a:t>
            </a:r>
          </a:p>
        </p:txBody>
      </p:sp>
      <p:sp>
        <p:nvSpPr>
          <p:cNvPr id="9" name="Rounded Rectangle 8"/>
          <p:cNvSpPr/>
          <p:nvPr/>
        </p:nvSpPr>
        <p:spPr>
          <a:xfrm>
            <a:off x="640080" y="2688336"/>
            <a:ext cx="10881360" cy="621792"/>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77824" y="2907791"/>
            <a:ext cx="182880" cy="182880"/>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7" y="2688336"/>
            <a:ext cx="2743200" cy="621792"/>
          </a:xfrm>
          <a:prstGeom prst="rect">
            <a:avLst/>
          </a:prstGeom>
          <a:noFill/>
        </p:spPr>
        <p:txBody>
          <a:bodyPr wrap="square" anchor="ctr" lIns="0" rIns="0" tIns="0" bIns="0">
            <a:spAutoFit/>
          </a:bodyPr>
          <a:lstStyle/>
          <a:p>
            <a:pPr algn="l"/>
            <a:r>
              <a:rPr sz="1400" b="1" i="0">
                <a:solidFill>
                  <a:srgbClr val="EAF0FF"/>
                </a:solidFill>
                <a:latin typeface="Arial"/>
              </a:rPr>
              <a:t>API</a:t>
            </a:r>
          </a:p>
        </p:txBody>
      </p:sp>
      <p:sp>
        <p:nvSpPr>
          <p:cNvPr id="12" name="TextBox 11"/>
          <p:cNvSpPr txBox="1"/>
          <p:nvPr/>
        </p:nvSpPr>
        <p:spPr>
          <a:xfrm>
            <a:off x="4023360" y="2688336"/>
            <a:ext cx="7315200" cy="621792"/>
          </a:xfrm>
          <a:prstGeom prst="rect">
            <a:avLst/>
          </a:prstGeom>
          <a:noFill/>
        </p:spPr>
        <p:txBody>
          <a:bodyPr wrap="square" anchor="ctr" lIns="0" rIns="0" tIns="0" bIns="0">
            <a:spAutoFit/>
          </a:bodyPr>
          <a:lstStyle/>
          <a:p>
            <a:pPr algn="l"/>
            <a:r>
              <a:rPr sz="1250" b="0" i="0">
                <a:solidFill>
                  <a:srgbClr val="93A1C0"/>
                </a:solidFill>
                <a:latin typeface="Arial"/>
              </a:rPr>
              <a:t>FastAPI · JWT auth · role-based access · rate limiting</a:t>
            </a:r>
          </a:p>
        </p:txBody>
      </p:sp>
      <p:sp>
        <p:nvSpPr>
          <p:cNvPr id="13" name="Rounded Rectangle 12"/>
          <p:cNvSpPr/>
          <p:nvPr/>
        </p:nvSpPr>
        <p:spPr>
          <a:xfrm>
            <a:off x="640080" y="3410712"/>
            <a:ext cx="10881360" cy="621792"/>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3630168"/>
            <a:ext cx="182880" cy="18288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7" y="3410712"/>
            <a:ext cx="2743200" cy="621792"/>
          </a:xfrm>
          <a:prstGeom prst="rect">
            <a:avLst/>
          </a:prstGeom>
          <a:noFill/>
        </p:spPr>
        <p:txBody>
          <a:bodyPr wrap="square" anchor="ctr" lIns="0" rIns="0" tIns="0" bIns="0">
            <a:spAutoFit/>
          </a:bodyPr>
          <a:lstStyle/>
          <a:p>
            <a:pPr algn="l"/>
            <a:r>
              <a:rPr sz="1400" b="1" i="0">
                <a:solidFill>
                  <a:srgbClr val="EAF0FF"/>
                </a:solidFill>
                <a:latin typeface="Arial"/>
              </a:rPr>
              <a:t>Compliance core</a:t>
            </a:r>
          </a:p>
        </p:txBody>
      </p:sp>
      <p:sp>
        <p:nvSpPr>
          <p:cNvPr id="16" name="TextBox 15"/>
          <p:cNvSpPr txBox="1"/>
          <p:nvPr/>
        </p:nvSpPr>
        <p:spPr>
          <a:xfrm>
            <a:off x="4023360" y="3410712"/>
            <a:ext cx="7315200" cy="621792"/>
          </a:xfrm>
          <a:prstGeom prst="rect">
            <a:avLst/>
          </a:prstGeom>
          <a:noFill/>
        </p:spPr>
        <p:txBody>
          <a:bodyPr wrap="square" anchor="ctr" lIns="0" rIns="0" tIns="0" bIns="0">
            <a:spAutoFit/>
          </a:bodyPr>
          <a:lstStyle/>
          <a:p>
            <a:pPr algn="l"/>
            <a:r>
              <a:rPr sz="1250" b="0" i="0">
                <a:solidFill>
                  <a:srgbClr val="93A1C0"/>
                </a:solidFill>
                <a:latin typeface="Arial"/>
              </a:rPr>
              <a:t>Pipeline · rule engine · scoring · recommendation · collusion detector</a:t>
            </a:r>
          </a:p>
        </p:txBody>
      </p:sp>
      <p:sp>
        <p:nvSpPr>
          <p:cNvPr id="17" name="Rounded Rectangle 16"/>
          <p:cNvSpPr/>
          <p:nvPr/>
        </p:nvSpPr>
        <p:spPr>
          <a:xfrm>
            <a:off x="640080" y="4133087"/>
            <a:ext cx="10881360" cy="621792"/>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77824" y="4352544"/>
            <a:ext cx="182880" cy="18288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7007" y="4133087"/>
            <a:ext cx="2743200" cy="621792"/>
          </a:xfrm>
          <a:prstGeom prst="rect">
            <a:avLst/>
          </a:prstGeom>
          <a:noFill/>
        </p:spPr>
        <p:txBody>
          <a:bodyPr wrap="square" anchor="ctr" lIns="0" rIns="0" tIns="0" bIns="0">
            <a:spAutoFit/>
          </a:bodyPr>
          <a:lstStyle/>
          <a:p>
            <a:pPr algn="l"/>
            <a:r>
              <a:rPr sz="1400" b="1" i="0">
                <a:solidFill>
                  <a:srgbClr val="EAF0FF"/>
                </a:solidFill>
                <a:latin typeface="Arial"/>
              </a:rPr>
              <a:t>AI + Security</a:t>
            </a:r>
          </a:p>
        </p:txBody>
      </p:sp>
      <p:sp>
        <p:nvSpPr>
          <p:cNvPr id="20" name="TextBox 19"/>
          <p:cNvSpPr txBox="1"/>
          <p:nvPr/>
        </p:nvSpPr>
        <p:spPr>
          <a:xfrm>
            <a:off x="4023360" y="4133087"/>
            <a:ext cx="7315200" cy="621792"/>
          </a:xfrm>
          <a:prstGeom prst="rect">
            <a:avLst/>
          </a:prstGeom>
          <a:noFill/>
        </p:spPr>
        <p:txBody>
          <a:bodyPr wrap="square" anchor="ctr" lIns="0" rIns="0" tIns="0" bIns="0">
            <a:spAutoFit/>
          </a:bodyPr>
          <a:lstStyle/>
          <a:p>
            <a:pPr algn="l"/>
            <a:r>
              <a:rPr sz="1250" b="0" i="0">
                <a:solidFill>
                  <a:srgbClr val="93A1C0"/>
                </a:solidFill>
                <a:latin typeface="Arial"/>
              </a:rPr>
              <a:t>Extraction · cross-verify  |  PKI signatures · tamper · hash-chain audit · encryption</a:t>
            </a:r>
          </a:p>
        </p:txBody>
      </p:sp>
      <p:sp>
        <p:nvSpPr>
          <p:cNvPr id="21" name="Rounded Rectangle 20"/>
          <p:cNvSpPr/>
          <p:nvPr/>
        </p:nvSpPr>
        <p:spPr>
          <a:xfrm>
            <a:off x="640080" y="4855464"/>
            <a:ext cx="10881360" cy="621792"/>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77824" y="5074920"/>
            <a:ext cx="182880" cy="18288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7007" y="4855464"/>
            <a:ext cx="2743200" cy="621792"/>
          </a:xfrm>
          <a:prstGeom prst="rect">
            <a:avLst/>
          </a:prstGeom>
          <a:noFill/>
        </p:spPr>
        <p:txBody>
          <a:bodyPr wrap="square" anchor="ctr" lIns="0" rIns="0" tIns="0" bIns="0">
            <a:spAutoFit/>
          </a:bodyPr>
          <a:lstStyle/>
          <a:p>
            <a:pPr algn="l"/>
            <a:r>
              <a:rPr sz="1400" b="1" i="0">
                <a:solidFill>
                  <a:srgbClr val="EAF0FF"/>
                </a:solidFill>
                <a:latin typeface="Arial"/>
              </a:rPr>
              <a:t>Integration adapters</a:t>
            </a:r>
          </a:p>
        </p:txBody>
      </p:sp>
      <p:sp>
        <p:nvSpPr>
          <p:cNvPr id="24" name="TextBox 23"/>
          <p:cNvSpPr txBox="1"/>
          <p:nvPr/>
        </p:nvSpPr>
        <p:spPr>
          <a:xfrm>
            <a:off x="4023360" y="4855464"/>
            <a:ext cx="7315200" cy="621792"/>
          </a:xfrm>
          <a:prstGeom prst="rect">
            <a:avLst/>
          </a:prstGeom>
          <a:noFill/>
        </p:spPr>
        <p:txBody>
          <a:bodyPr wrap="square" anchor="ctr" lIns="0" rIns="0" tIns="0" bIns="0">
            <a:spAutoFit/>
          </a:bodyPr>
          <a:lstStyle/>
          <a:p>
            <a:pPr algn="l"/>
            <a:r>
              <a:rPr sz="1250" b="0" i="0">
                <a:solidFill>
                  <a:srgbClr val="93A1C0"/>
                </a:solidFill>
                <a:latin typeface="Arial"/>
              </a:rPr>
              <a:t>Mock registries now  →  APISetu / GSP / DigiLocker later (drop-in)</a:t>
            </a:r>
          </a:p>
        </p:txBody>
      </p:sp>
      <p:sp>
        <p:nvSpPr>
          <p:cNvPr id="25" name="Rounded Rectangle 24"/>
          <p:cNvSpPr/>
          <p:nvPr/>
        </p:nvSpPr>
        <p:spPr>
          <a:xfrm>
            <a:off x="640080" y="5577840"/>
            <a:ext cx="10881360" cy="621792"/>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5797296"/>
            <a:ext cx="182880" cy="182880"/>
          </a:xfrm>
          <a:prstGeom prst="ellipse">
            <a:avLst/>
          </a:prstGeom>
          <a:solidFill>
            <a:srgbClr val="93A1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7007" y="5577840"/>
            <a:ext cx="2743200" cy="621792"/>
          </a:xfrm>
          <a:prstGeom prst="rect">
            <a:avLst/>
          </a:prstGeom>
          <a:noFill/>
        </p:spPr>
        <p:txBody>
          <a:bodyPr wrap="square" anchor="ctr" lIns="0" rIns="0" tIns="0" bIns="0">
            <a:spAutoFit/>
          </a:bodyPr>
          <a:lstStyle/>
          <a:p>
            <a:pPr algn="l"/>
            <a:r>
              <a:rPr sz="1400" b="1" i="0">
                <a:solidFill>
                  <a:srgbClr val="EAF0FF"/>
                </a:solidFill>
                <a:latin typeface="Arial"/>
              </a:rPr>
              <a:t>Database</a:t>
            </a:r>
          </a:p>
        </p:txBody>
      </p:sp>
      <p:sp>
        <p:nvSpPr>
          <p:cNvPr id="28" name="TextBox 27"/>
          <p:cNvSpPr txBox="1"/>
          <p:nvPr/>
        </p:nvSpPr>
        <p:spPr>
          <a:xfrm>
            <a:off x="4023360" y="5577840"/>
            <a:ext cx="7315200" cy="621792"/>
          </a:xfrm>
          <a:prstGeom prst="rect">
            <a:avLst/>
          </a:prstGeom>
          <a:noFill/>
        </p:spPr>
        <p:txBody>
          <a:bodyPr wrap="square" anchor="ctr" lIns="0" rIns="0" tIns="0" bIns="0">
            <a:spAutoFit/>
          </a:bodyPr>
          <a:lstStyle/>
          <a:p>
            <a:pPr algn="l"/>
            <a:r>
              <a:rPr sz="1250" b="0" i="0">
                <a:solidFill>
                  <a:srgbClr val="93A1C0"/>
                </a:solidFill>
                <a:latin typeface="Arial"/>
              </a:rPr>
              <a:t>PostgreSQL / SQLite · sensitive IDs encrypted at rest</a:t>
            </a:r>
          </a:p>
        </p:txBody>
      </p:sp>
      <p:sp>
        <p:nvSpPr>
          <p:cNvPr id="29" name="TextBox 28"/>
          <p:cNvSpPr txBox="1"/>
          <p:nvPr/>
        </p:nvSpPr>
        <p:spPr>
          <a:xfrm>
            <a:off x="640080" y="6263640"/>
            <a:ext cx="11247120" cy="320040"/>
          </a:xfrm>
          <a:prstGeom prst="rect">
            <a:avLst/>
          </a:prstGeom>
          <a:noFill/>
        </p:spPr>
        <p:txBody>
          <a:bodyPr wrap="square" anchor="t" lIns="0" rIns="0" tIns="0" bIns="0">
            <a:spAutoFit/>
          </a:bodyPr>
          <a:lstStyle/>
          <a:p>
            <a:pPr algn="l"/>
            <a:r>
              <a:rPr sz="1100" b="0" i="0">
                <a:solidFill>
                  <a:srgbClr val="93A1C0"/>
                </a:solidFill>
                <a:latin typeface="Arial"/>
              </a:rPr>
              <a:t>Python · FastAPI · SQLAlchemy · React · TypeScript · Tailwind · Docker (one command) · 70+ automated tests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RELIABILITY</a:t>
            </a:r>
          </a:p>
        </p:txBody>
      </p:sp>
      <p:sp>
        <p:nvSpPr>
          <p:cNvPr id="4" name="TextBox 3"/>
          <p:cNvSpPr txBox="1"/>
          <p:nvPr/>
        </p:nvSpPr>
        <p:spPr>
          <a:xfrm>
            <a:off x="640080" y="914400"/>
            <a:ext cx="1133856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Runs with no internet and no paid API key</a:t>
            </a:r>
          </a:p>
        </p:txBody>
      </p:sp>
      <p:sp>
        <p:nvSpPr>
          <p:cNvPr id="5" name="Rounded Rectangle 4"/>
          <p:cNvSpPr/>
          <p:nvPr/>
        </p:nvSpPr>
        <p:spPr>
          <a:xfrm>
            <a:off x="640080" y="2011680"/>
            <a:ext cx="3520440" cy="274320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2359152"/>
            <a:ext cx="310896" cy="310896"/>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880360"/>
            <a:ext cx="2971800" cy="640080"/>
          </a:xfrm>
          <a:prstGeom prst="rect">
            <a:avLst/>
          </a:prstGeom>
          <a:noFill/>
        </p:spPr>
        <p:txBody>
          <a:bodyPr wrap="square" anchor="t" lIns="0" rIns="0" tIns="0" bIns="0">
            <a:spAutoFit/>
          </a:bodyPr>
          <a:lstStyle/>
          <a:p>
            <a:pPr algn="l">
              <a:lnSpc>
                <a:spcPct val="100000"/>
              </a:lnSpc>
            </a:pPr>
            <a:r>
              <a:rPr sz="1650" b="1" i="0">
                <a:solidFill>
                  <a:srgbClr val="EAF0FF"/>
                </a:solidFill>
                <a:latin typeface="Arial"/>
              </a:rPr>
              <a:t>Deterministic engine</a:t>
            </a:r>
          </a:p>
        </p:txBody>
      </p:sp>
      <p:sp>
        <p:nvSpPr>
          <p:cNvPr id="8" name="TextBox 7"/>
          <p:cNvSpPr txBox="1"/>
          <p:nvPr/>
        </p:nvSpPr>
        <p:spPr>
          <a:xfrm>
            <a:off x="950976" y="3520440"/>
            <a:ext cx="2971800" cy="1097280"/>
          </a:xfrm>
          <a:prstGeom prst="rect">
            <a:avLst/>
          </a:prstGeom>
          <a:noFill/>
        </p:spPr>
        <p:txBody>
          <a:bodyPr wrap="square" anchor="t" lIns="0" rIns="0" tIns="0" bIns="0">
            <a:spAutoFit/>
          </a:bodyPr>
          <a:lstStyle/>
          <a:p>
            <a:pPr algn="l">
              <a:lnSpc>
                <a:spcPct val="118000"/>
              </a:lnSpc>
            </a:pPr>
            <a:r>
              <a:rPr sz="1300" b="0" i="0">
                <a:solidFill>
                  <a:srgbClr val="93A1C0"/>
                </a:solidFill>
                <a:latin typeface="Arial"/>
              </a:rPr>
              <a:t>The full check runs without any cloud AI. A large language model is an optional upgrade, never a dependency.</a:t>
            </a:r>
          </a:p>
        </p:txBody>
      </p:sp>
      <p:sp>
        <p:nvSpPr>
          <p:cNvPr id="9" name="Rounded Rectangle 8"/>
          <p:cNvSpPr/>
          <p:nvPr/>
        </p:nvSpPr>
        <p:spPr>
          <a:xfrm>
            <a:off x="4416552" y="2011680"/>
            <a:ext cx="3520440" cy="274320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27448" y="2359152"/>
            <a:ext cx="310896" cy="310896"/>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7448" y="2880360"/>
            <a:ext cx="2971800" cy="640080"/>
          </a:xfrm>
          <a:prstGeom prst="rect">
            <a:avLst/>
          </a:prstGeom>
          <a:noFill/>
        </p:spPr>
        <p:txBody>
          <a:bodyPr wrap="square" anchor="t" lIns="0" rIns="0" tIns="0" bIns="0">
            <a:spAutoFit/>
          </a:bodyPr>
          <a:lstStyle/>
          <a:p>
            <a:pPr algn="l">
              <a:lnSpc>
                <a:spcPct val="100000"/>
              </a:lnSpc>
            </a:pPr>
            <a:r>
              <a:rPr sz="1650" b="1" i="0">
                <a:solidFill>
                  <a:srgbClr val="EAF0FF"/>
                </a:solidFill>
                <a:latin typeface="Arial"/>
              </a:rPr>
              <a:t>Local mock registries</a:t>
            </a:r>
          </a:p>
        </p:txBody>
      </p:sp>
      <p:sp>
        <p:nvSpPr>
          <p:cNvPr id="12" name="TextBox 11"/>
          <p:cNvSpPr txBox="1"/>
          <p:nvPr/>
        </p:nvSpPr>
        <p:spPr>
          <a:xfrm>
            <a:off x="4727448" y="3520440"/>
            <a:ext cx="2971800" cy="1097280"/>
          </a:xfrm>
          <a:prstGeom prst="rect">
            <a:avLst/>
          </a:prstGeom>
          <a:noFill/>
        </p:spPr>
        <p:txBody>
          <a:bodyPr wrap="square" anchor="t" lIns="0" rIns="0" tIns="0" bIns="0">
            <a:spAutoFit/>
          </a:bodyPr>
          <a:lstStyle/>
          <a:p>
            <a:pPr algn="l">
              <a:lnSpc>
                <a:spcPct val="118000"/>
              </a:lnSpc>
            </a:pPr>
            <a:r>
              <a:rPr sz="1300" b="0" i="0">
                <a:solidFill>
                  <a:srgbClr val="93A1C0"/>
                </a:solidFill>
                <a:latin typeface="Arial"/>
              </a:rPr>
              <a:t>Government responses come from a seeded dataset — realistic, and always available for the demo.</a:t>
            </a:r>
          </a:p>
        </p:txBody>
      </p:sp>
      <p:sp>
        <p:nvSpPr>
          <p:cNvPr id="13" name="Rounded Rectangle 12"/>
          <p:cNvSpPr/>
          <p:nvPr/>
        </p:nvSpPr>
        <p:spPr>
          <a:xfrm>
            <a:off x="8193023" y="2011680"/>
            <a:ext cx="3520440" cy="274320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03919" y="2359152"/>
            <a:ext cx="310896" cy="310896"/>
          </a:xfrm>
          <a:prstGeom prst="ellipse">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19" y="2880360"/>
            <a:ext cx="2971800" cy="640080"/>
          </a:xfrm>
          <a:prstGeom prst="rect">
            <a:avLst/>
          </a:prstGeom>
          <a:noFill/>
        </p:spPr>
        <p:txBody>
          <a:bodyPr wrap="square" anchor="t" lIns="0" rIns="0" tIns="0" bIns="0">
            <a:spAutoFit/>
          </a:bodyPr>
          <a:lstStyle/>
          <a:p>
            <a:pPr algn="l">
              <a:lnSpc>
                <a:spcPct val="100000"/>
              </a:lnSpc>
            </a:pPr>
            <a:r>
              <a:rPr sz="1650" b="1" i="0">
                <a:solidFill>
                  <a:srgbClr val="EAF0FF"/>
                </a:solidFill>
                <a:latin typeface="Arial"/>
              </a:rPr>
              <a:t>Locally signed PDFs</a:t>
            </a:r>
          </a:p>
        </p:txBody>
      </p:sp>
      <p:sp>
        <p:nvSpPr>
          <p:cNvPr id="16" name="TextBox 15"/>
          <p:cNvSpPr txBox="1"/>
          <p:nvPr/>
        </p:nvSpPr>
        <p:spPr>
          <a:xfrm>
            <a:off x="8503919" y="3520440"/>
            <a:ext cx="2971800" cy="1097280"/>
          </a:xfrm>
          <a:prstGeom prst="rect">
            <a:avLst/>
          </a:prstGeom>
          <a:noFill/>
        </p:spPr>
        <p:txBody>
          <a:bodyPr wrap="square" anchor="t" lIns="0" rIns="0" tIns="0" bIns="0">
            <a:spAutoFit/>
          </a:bodyPr>
          <a:lstStyle/>
          <a:p>
            <a:pPr algn="l">
              <a:lnSpc>
                <a:spcPct val="118000"/>
              </a:lnSpc>
            </a:pPr>
            <a:r>
              <a:rPr sz="1300" b="0" i="0">
                <a:solidFill>
                  <a:srgbClr val="93A1C0"/>
                </a:solidFill>
                <a:latin typeface="Arial"/>
              </a:rPr>
              <a:t>The demo's real digital signatures are generated on the machine, so signature and tamper checks work live.</a:t>
            </a:r>
          </a:p>
        </p:txBody>
      </p:sp>
      <p:sp>
        <p:nvSpPr>
          <p:cNvPr id="17" name="Rounded Rectangle 16"/>
          <p:cNvSpPr/>
          <p:nvPr/>
        </p:nvSpPr>
        <p:spPr>
          <a:xfrm>
            <a:off x="640080" y="5074920"/>
            <a:ext cx="10881360" cy="822960"/>
          </a:xfrm>
          <a:prstGeom prst="roundRect">
            <a:avLst>
              <a:gd name="adj" fmla="val 6000"/>
            </a:avLst>
          </a:prstGeom>
          <a:solidFill>
            <a:srgbClr val="0E2A30"/>
          </a:solidFill>
          <a:ln w="1587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5504"/>
            <a:ext cx="10332720" cy="640080"/>
          </a:xfrm>
          <a:prstGeom prst="rect">
            <a:avLst/>
          </a:prstGeom>
          <a:noFill/>
        </p:spPr>
        <p:txBody>
          <a:bodyPr wrap="square" anchor="ctr" lIns="0" rIns="0" tIns="0" bIns="0">
            <a:spAutoFit/>
          </a:bodyPr>
          <a:lstStyle/>
          <a:p>
            <a:pPr algn="l">
              <a:lnSpc>
                <a:spcPct val="105000"/>
              </a:lnSpc>
            </a:pPr>
            <a:r>
              <a:rPr sz="1550" b="1" i="0">
                <a:solidFill>
                  <a:srgbClr val="EAF0FF"/>
                </a:solidFill>
                <a:latin typeface="Arial"/>
              </a:rPr>
              <a:t>Perfect for a live demo — </a:t>
            </a:r>
            <a:r>
              <a:rPr sz="1550" b="1" i="0">
                <a:solidFill>
                  <a:srgbClr val="31C8D6"/>
                </a:solidFill>
                <a:latin typeface="Arial"/>
              </a:rPr>
              <a:t>and a strong data-sovereignty story for government deployments.</a:t>
            </a:r>
          </a:p>
        </p:txBody>
      </p:sp>
      <p:sp>
        <p:nvSpPr>
          <p:cNvPr id="19" name="TextBox 18"/>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No network dependence means no failed demo — and sensitive bidder data need never leave the premises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PATH TO PRODUCTION</a:t>
            </a:r>
          </a:p>
        </p:txBody>
      </p:sp>
      <p:sp>
        <p:nvSpPr>
          <p:cNvPr id="4" name="TextBox 3"/>
          <p:cNvSpPr txBox="1"/>
          <p:nvPr/>
        </p:nvSpPr>
        <p:spPr>
          <a:xfrm>
            <a:off x="640080" y="914400"/>
            <a:ext cx="1133856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Mock today, real government APIs tomorrow — by design</a:t>
            </a:r>
          </a:p>
        </p:txBody>
      </p:sp>
      <p:sp>
        <p:nvSpPr>
          <p:cNvPr id="5" name="Rounded Rectangle 4"/>
          <p:cNvSpPr/>
          <p:nvPr/>
        </p:nvSpPr>
        <p:spPr>
          <a:xfrm>
            <a:off x="640080" y="2148840"/>
            <a:ext cx="4846320" cy="228600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377440"/>
            <a:ext cx="4206240" cy="365760"/>
          </a:xfrm>
          <a:prstGeom prst="rect">
            <a:avLst/>
          </a:prstGeom>
          <a:noFill/>
        </p:spPr>
        <p:txBody>
          <a:bodyPr wrap="square" anchor="t" lIns="0" rIns="0" tIns="0" bIns="0">
            <a:spAutoFit/>
          </a:bodyPr>
          <a:lstStyle/>
          <a:p>
            <a:pPr algn="l"/>
            <a:r>
              <a:rPr sz="1250" b="1" i="0">
                <a:solidFill>
                  <a:srgbClr val="FBBF24"/>
                </a:solidFill>
                <a:latin typeface="Arial"/>
              </a:rPr>
              <a:t>TODAY — hackathon</a:t>
            </a:r>
          </a:p>
        </p:txBody>
      </p:sp>
      <p:sp>
        <p:nvSpPr>
          <p:cNvPr id="7" name="TextBox 6"/>
          <p:cNvSpPr txBox="1"/>
          <p:nvPr/>
        </p:nvSpPr>
        <p:spPr>
          <a:xfrm>
            <a:off x="960120" y="2880360"/>
            <a:ext cx="4297680" cy="1371600"/>
          </a:xfrm>
          <a:prstGeom prst="rect">
            <a:avLst/>
          </a:prstGeom>
          <a:noFill/>
        </p:spPr>
        <p:txBody>
          <a:bodyPr wrap="square" anchor="t" lIns="0" rIns="0" tIns="0" bIns="0">
            <a:spAutoFit/>
          </a:bodyPr>
          <a:lstStyle/>
          <a:p>
            <a:pPr algn="l">
              <a:lnSpc>
                <a:spcPct val="118000"/>
              </a:lnSpc>
            </a:pPr>
            <a:r>
              <a:rPr sz="1400" b="0" i="0">
                <a:solidFill>
                  <a:srgbClr val="EAF0FF"/>
                </a:solidFill>
                <a:latin typeface="Arial"/>
              </a:rPr>
              <a:t>Sanctioned dummy data through a </a:t>
            </a:r>
            <a:r>
              <a:rPr sz="1400" b="1" i="0">
                <a:solidFill>
                  <a:srgbClr val="EAF0FF"/>
                </a:solidFill>
                <a:latin typeface="Courier New"/>
              </a:rPr>
              <a:t>MockGovPortal</a:t>
            </a:r>
            <a:r>
              <a:rPr sz="1400" b="0" i="0">
                <a:solidFill>
                  <a:srgbClr val="93A1C0"/>
                </a:solidFill>
                <a:latin typeface="Arial"/>
              </a:rPr>
              <a:t>. Live government APIs are gated, so the PS explicitly allows mock datasets.</a:t>
            </a:r>
          </a:p>
        </p:txBody>
      </p:sp>
      <p:sp>
        <p:nvSpPr>
          <p:cNvPr id="8" name="Right Arrow 7"/>
          <p:cNvSpPr/>
          <p:nvPr/>
        </p:nvSpPr>
        <p:spPr>
          <a:xfrm>
            <a:off x="5623560" y="3063240"/>
            <a:ext cx="868680" cy="502920"/>
          </a:xfrm>
          <a:prstGeom prst="rightArrow">
            <a:avLst/>
          </a:prstGeom>
          <a:solidFill>
            <a:srgbClr val="31C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2148840"/>
            <a:ext cx="4846320" cy="2286000"/>
          </a:xfrm>
          <a:prstGeom prst="roundRect">
            <a:avLst>
              <a:gd name="adj" fmla="val 6000"/>
            </a:avLst>
          </a:prstGeom>
          <a:solidFill>
            <a:srgbClr val="1B2540"/>
          </a:solidFill>
          <a:ln w="1587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2377440"/>
            <a:ext cx="4206240" cy="365760"/>
          </a:xfrm>
          <a:prstGeom prst="rect">
            <a:avLst/>
          </a:prstGeom>
          <a:noFill/>
        </p:spPr>
        <p:txBody>
          <a:bodyPr wrap="square" anchor="t" lIns="0" rIns="0" tIns="0" bIns="0">
            <a:spAutoFit/>
          </a:bodyPr>
          <a:lstStyle/>
          <a:p>
            <a:pPr algn="l"/>
            <a:r>
              <a:rPr sz="1250" b="1" i="0">
                <a:solidFill>
                  <a:srgbClr val="31C8D6"/>
                </a:solidFill>
                <a:latin typeface="Arial"/>
              </a:rPr>
              <a:t>PRODUCTION — drop-in</a:t>
            </a:r>
          </a:p>
        </p:txBody>
      </p:sp>
      <p:sp>
        <p:nvSpPr>
          <p:cNvPr id="11" name="TextBox 10"/>
          <p:cNvSpPr txBox="1"/>
          <p:nvPr/>
        </p:nvSpPr>
        <p:spPr>
          <a:xfrm>
            <a:off x="6995160" y="2880360"/>
            <a:ext cx="4297680" cy="1371600"/>
          </a:xfrm>
          <a:prstGeom prst="rect">
            <a:avLst/>
          </a:prstGeom>
          <a:noFill/>
        </p:spPr>
        <p:txBody>
          <a:bodyPr wrap="square" anchor="t" lIns="0" rIns="0" tIns="0" bIns="0">
            <a:spAutoFit/>
          </a:bodyPr>
          <a:lstStyle/>
          <a:p>
            <a:pPr algn="l">
              <a:lnSpc>
                <a:spcPct val="118000"/>
              </a:lnSpc>
            </a:pPr>
            <a:r>
              <a:rPr sz="1400" b="0" i="0">
                <a:solidFill>
                  <a:srgbClr val="EAF0FF"/>
                </a:solidFill>
                <a:latin typeface="Arial"/>
              </a:rPr>
              <a:t>Ready-to-wire adapters for </a:t>
            </a:r>
            <a:r>
              <a:rPr sz="1400" b="1" i="0">
                <a:solidFill>
                  <a:srgbClr val="EAF0FF"/>
                </a:solidFill>
                <a:latin typeface="Arial"/>
              </a:rPr>
              <a:t>APISetu, GST Suvidha Provider and DigiLocker</a:t>
            </a:r>
            <a:r>
              <a:rPr sz="1400" b="0" i="0">
                <a:solidFill>
                  <a:srgbClr val="93A1C0"/>
                </a:solidFill>
                <a:latin typeface="Arial"/>
              </a:rPr>
              <a:t> — each with the exact onboarding steps documented.</a:t>
            </a:r>
          </a:p>
        </p:txBody>
      </p:sp>
      <p:sp>
        <p:nvSpPr>
          <p:cNvPr id="12" name="TextBox 11"/>
          <p:cNvSpPr txBox="1"/>
          <p:nvPr/>
        </p:nvSpPr>
        <p:spPr>
          <a:xfrm>
            <a:off x="640080" y="4892040"/>
            <a:ext cx="10972800" cy="914400"/>
          </a:xfrm>
          <a:prstGeom prst="rect">
            <a:avLst/>
          </a:prstGeom>
          <a:noFill/>
        </p:spPr>
        <p:txBody>
          <a:bodyPr wrap="square" anchor="t" lIns="0" rIns="0" tIns="0" bIns="0">
            <a:spAutoFit/>
          </a:bodyPr>
          <a:lstStyle/>
          <a:p>
            <a:pPr algn="l">
              <a:lnSpc>
                <a:spcPct val="120000"/>
              </a:lnSpc>
              <a:spcAft>
                <a:spcPts val="600"/>
              </a:spcAft>
            </a:pPr>
            <a:r>
              <a:rPr sz="1550" b="1" i="0">
                <a:solidFill>
                  <a:srgbClr val="31C8D6"/>
                </a:solidFill>
                <a:latin typeface="Arial"/>
              </a:rPr>
              <a:t>One clean adapter seam. </a:t>
            </a:r>
            <a:r>
              <a:rPr sz="1550" b="0" i="0">
                <a:solidFill>
                  <a:srgbClr val="EAF0FF"/>
                </a:solidFill>
                <a:latin typeface="Arial"/>
              </a:rPr>
              <a:t>Swap mock for live without changing a single check, score, or screen.</a:t>
            </a:r>
          </a:p>
          <a:p>
            <a:pPr algn="l">
              <a:lnSpc>
                <a:spcPct val="120000"/>
              </a:lnSpc>
              <a:spcAft>
                <a:spcPts val="600"/>
              </a:spcAft>
            </a:pPr>
            <a:r>
              <a:rPr sz="1350" b="0" i="1">
                <a:solidFill>
                  <a:srgbClr val="93A1C0"/>
                </a:solidFill>
                <a:latin typeface="Arial"/>
              </a:rPr>
              <a:t>We're upfront about what's mocked — the production path is documented, not hand-waved.</a:t>
            </a:r>
          </a:p>
        </p:txBody>
      </p:sp>
      <p:sp>
        <p:nvSpPr>
          <p:cNvPr id="13" name="TextBox 12"/>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Honesty about scope is an engineering strength — and judges reward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OUR EDGE</a:t>
            </a:r>
          </a:p>
        </p:txBody>
      </p:sp>
      <p:sp>
        <p:nvSpPr>
          <p:cNvPr id="4" name="TextBox 3"/>
          <p:cNvSpPr txBox="1"/>
          <p:nvPr/>
        </p:nvSpPr>
        <p:spPr>
          <a:xfrm>
            <a:off x="640080" y="914400"/>
            <a:ext cx="1097280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Why this wins</a:t>
            </a:r>
          </a:p>
        </p:txBody>
      </p:sp>
      <p:sp>
        <p:nvSpPr>
          <p:cNvPr id="5" name="Rounded Rectangle 4"/>
          <p:cNvSpPr/>
          <p:nvPr/>
        </p:nvSpPr>
        <p:spPr>
          <a:xfrm>
            <a:off x="640080" y="2057400"/>
            <a:ext cx="3611880" cy="2834640"/>
          </a:xfrm>
          <a:prstGeom prst="roundRect">
            <a:avLst>
              <a:gd name="adj" fmla="val 6000"/>
            </a:avLst>
          </a:prstGeom>
          <a:solidFill>
            <a:srgbClr val="141B2E"/>
          </a:solidFill>
          <a:ln w="15875">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368296"/>
            <a:ext cx="3063240" cy="822960"/>
          </a:xfrm>
          <a:prstGeom prst="rect">
            <a:avLst/>
          </a:prstGeom>
          <a:noFill/>
        </p:spPr>
        <p:txBody>
          <a:bodyPr wrap="square" anchor="t" lIns="0" rIns="0" tIns="0" bIns="0">
            <a:spAutoFit/>
          </a:bodyPr>
          <a:lstStyle/>
          <a:p>
            <a:pPr algn="l">
              <a:lnSpc>
                <a:spcPct val="102000"/>
              </a:lnSpc>
            </a:pPr>
            <a:r>
              <a:rPr sz="1650" b="1" i="0">
                <a:solidFill>
                  <a:srgbClr val="EAF0FF"/>
                </a:solidFill>
                <a:latin typeface="Arial"/>
              </a:rPr>
              <a:t>vs. manual checking</a:t>
            </a:r>
          </a:p>
        </p:txBody>
      </p:sp>
      <p:sp>
        <p:nvSpPr>
          <p:cNvPr id="7" name="TextBox 6"/>
          <p:cNvSpPr txBox="1"/>
          <p:nvPr/>
        </p:nvSpPr>
        <p:spPr>
          <a:xfrm>
            <a:off x="950976" y="3291840"/>
            <a:ext cx="3063240" cy="1371600"/>
          </a:xfrm>
          <a:prstGeom prst="rect">
            <a:avLst/>
          </a:prstGeom>
          <a:noFill/>
        </p:spPr>
        <p:txBody>
          <a:bodyPr wrap="square" anchor="t" lIns="0" rIns="0" tIns="0" bIns="0">
            <a:spAutoFit/>
          </a:bodyPr>
          <a:lstStyle/>
          <a:p>
            <a:pPr algn="l">
              <a:lnSpc>
                <a:spcPct val="120000"/>
              </a:lnSpc>
            </a:pPr>
            <a:r>
              <a:rPr sz="1350" b="0" i="0">
                <a:solidFill>
                  <a:srgbClr val="93A1C0"/>
                </a:solidFill>
                <a:latin typeface="Arial"/>
              </a:rPr>
              <a:t>10× faster, consistent, never skips a step or a registry.</a:t>
            </a:r>
          </a:p>
        </p:txBody>
      </p:sp>
      <p:sp>
        <p:nvSpPr>
          <p:cNvPr id="8" name="Rounded Rectangle 7"/>
          <p:cNvSpPr/>
          <p:nvPr/>
        </p:nvSpPr>
        <p:spPr>
          <a:xfrm>
            <a:off x="4544568" y="2057400"/>
            <a:ext cx="3611880" cy="2834640"/>
          </a:xfrm>
          <a:prstGeom prst="roundRect">
            <a:avLst>
              <a:gd name="adj" fmla="val 6000"/>
            </a:avLst>
          </a:prstGeom>
          <a:solidFill>
            <a:srgbClr val="141B2E"/>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55464" y="2368296"/>
            <a:ext cx="3063240" cy="822960"/>
          </a:xfrm>
          <a:prstGeom prst="rect">
            <a:avLst/>
          </a:prstGeom>
          <a:noFill/>
        </p:spPr>
        <p:txBody>
          <a:bodyPr wrap="square" anchor="t" lIns="0" rIns="0" tIns="0" bIns="0">
            <a:spAutoFit/>
          </a:bodyPr>
          <a:lstStyle/>
          <a:p>
            <a:pPr algn="l">
              <a:lnSpc>
                <a:spcPct val="102000"/>
              </a:lnSpc>
            </a:pPr>
            <a:r>
              <a:rPr sz="1650" b="1" i="0">
                <a:solidFill>
                  <a:srgbClr val="EAF0FF"/>
                </a:solidFill>
                <a:latin typeface="Arial"/>
              </a:rPr>
              <a:t>vs. generic KYC / RegTech</a:t>
            </a:r>
          </a:p>
        </p:txBody>
      </p:sp>
      <p:sp>
        <p:nvSpPr>
          <p:cNvPr id="10" name="TextBox 9"/>
          <p:cNvSpPr txBox="1"/>
          <p:nvPr/>
        </p:nvSpPr>
        <p:spPr>
          <a:xfrm>
            <a:off x="4855464" y="3291840"/>
            <a:ext cx="3063240" cy="1371600"/>
          </a:xfrm>
          <a:prstGeom prst="rect">
            <a:avLst/>
          </a:prstGeom>
          <a:noFill/>
        </p:spPr>
        <p:txBody>
          <a:bodyPr wrap="square" anchor="t" lIns="0" rIns="0" tIns="0" bIns="0">
            <a:spAutoFit/>
          </a:bodyPr>
          <a:lstStyle/>
          <a:p>
            <a:pPr algn="l">
              <a:lnSpc>
                <a:spcPct val="120000"/>
              </a:lnSpc>
            </a:pPr>
            <a:r>
              <a:rPr sz="1350" b="0" i="0">
                <a:solidFill>
                  <a:srgbClr val="93A1C0"/>
                </a:solidFill>
                <a:latin typeface="Arial"/>
              </a:rPr>
              <a:t>Built for GeM's exact rules — Make-in-India, forgery, audit — not just ID lookups.</a:t>
            </a:r>
          </a:p>
        </p:txBody>
      </p:sp>
      <p:sp>
        <p:nvSpPr>
          <p:cNvPr id="11" name="Rounded Rectangle 10"/>
          <p:cNvSpPr/>
          <p:nvPr/>
        </p:nvSpPr>
        <p:spPr>
          <a:xfrm>
            <a:off x="8449056" y="2057400"/>
            <a:ext cx="3611880" cy="2834640"/>
          </a:xfrm>
          <a:prstGeom prst="roundRect">
            <a:avLst>
              <a:gd name="adj" fmla="val 6000"/>
            </a:avLst>
          </a:prstGeom>
          <a:solidFill>
            <a:srgbClr val="141B2E"/>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59952" y="2368296"/>
            <a:ext cx="3063240" cy="822960"/>
          </a:xfrm>
          <a:prstGeom prst="rect">
            <a:avLst/>
          </a:prstGeom>
          <a:noFill/>
        </p:spPr>
        <p:txBody>
          <a:bodyPr wrap="square" anchor="t" lIns="0" rIns="0" tIns="0" bIns="0">
            <a:spAutoFit/>
          </a:bodyPr>
          <a:lstStyle/>
          <a:p>
            <a:pPr algn="l">
              <a:lnSpc>
                <a:spcPct val="102000"/>
              </a:lnSpc>
            </a:pPr>
            <a:r>
              <a:rPr sz="1650" b="1" i="0">
                <a:solidFill>
                  <a:srgbClr val="EAF0FF"/>
                </a:solidFill>
                <a:latin typeface="Arial"/>
              </a:rPr>
              <a:t>vs. a typical hackathon build</a:t>
            </a:r>
          </a:p>
        </p:txBody>
      </p:sp>
      <p:sp>
        <p:nvSpPr>
          <p:cNvPr id="13" name="TextBox 12"/>
          <p:cNvSpPr txBox="1"/>
          <p:nvPr/>
        </p:nvSpPr>
        <p:spPr>
          <a:xfrm>
            <a:off x="8759952" y="3291840"/>
            <a:ext cx="3063240" cy="1371600"/>
          </a:xfrm>
          <a:prstGeom prst="rect">
            <a:avLst/>
          </a:prstGeom>
          <a:noFill/>
        </p:spPr>
        <p:txBody>
          <a:bodyPr wrap="square" anchor="t" lIns="0" rIns="0" tIns="0" bIns="0">
            <a:spAutoFit/>
          </a:bodyPr>
          <a:lstStyle/>
          <a:p>
            <a:pPr algn="l">
              <a:lnSpc>
                <a:spcPct val="120000"/>
              </a:lnSpc>
            </a:pPr>
            <a:r>
              <a:rPr sz="1350" b="0" i="0">
                <a:solidFill>
                  <a:srgbClr val="93A1C0"/>
                </a:solidFill>
                <a:latin typeface="Arial"/>
              </a:rPr>
              <a:t>Real PKI, real tamper detection, tamper-proof audit, offline, and fully explainable.</a:t>
            </a:r>
          </a:p>
        </p:txBody>
      </p:sp>
      <p:sp>
        <p:nvSpPr>
          <p:cNvPr id="14" name="TextBox 13"/>
          <p:cNvSpPr txBox="1"/>
          <p:nvPr/>
        </p:nvSpPr>
        <p:spPr>
          <a:xfrm>
            <a:off x="640080" y="5212080"/>
            <a:ext cx="10972800" cy="640080"/>
          </a:xfrm>
          <a:prstGeom prst="rect">
            <a:avLst/>
          </a:prstGeom>
          <a:noFill/>
        </p:spPr>
        <p:txBody>
          <a:bodyPr wrap="square" anchor="t" lIns="0" rIns="0" tIns="0" bIns="0">
            <a:spAutoFit/>
          </a:bodyPr>
          <a:lstStyle/>
          <a:p>
            <a:pPr algn="l"/>
            <a:r>
              <a:rPr sz="1600" b="1" i="0">
                <a:solidFill>
                  <a:srgbClr val="31C8D6"/>
                </a:solidFill>
                <a:latin typeface="Arial"/>
              </a:rPr>
              <a:t>Depth where it counts: </a:t>
            </a:r>
            <a:r>
              <a:rPr sz="1600" b="0" i="0">
                <a:solidFill>
                  <a:srgbClr val="EAF0FF"/>
                </a:solidFill>
                <a:latin typeface="Arial"/>
              </a:rPr>
              <a:t>security, explainability, and India-specific compliance logic.</a:t>
            </a:r>
          </a:p>
        </p:txBody>
      </p:sp>
      <p:sp>
        <p:nvSpPr>
          <p:cNvPr id="15" name="TextBox 14"/>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Anyone can validate an ID format — few can catch a forgery, prove an audit trail, and explain every score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058400" cy="292608"/>
          </a:xfrm>
          <a:prstGeom prst="rect">
            <a:avLst/>
          </a:prstGeom>
          <a:noFill/>
        </p:spPr>
        <p:txBody>
          <a:bodyPr wrap="square" anchor="t" lIns="0" rIns="0" tIns="0" bIns="0">
            <a:spAutoFit/>
          </a:bodyPr>
          <a:lstStyle/>
          <a:p>
            <a:pPr algn="l"/>
            <a:r>
              <a:rPr sz="1250" b="1" i="0">
                <a:solidFill>
                  <a:srgbClr val="31C8D6"/>
                </a:solidFill>
                <a:latin typeface="Arial"/>
              </a:rPr>
              <a:t>IMPACT &amp; WHAT'S NEXT</a:t>
            </a:r>
          </a:p>
        </p:txBody>
      </p:sp>
      <p:sp>
        <p:nvSpPr>
          <p:cNvPr id="4" name="TextBox 3"/>
          <p:cNvSpPr txBox="1"/>
          <p:nvPr/>
        </p:nvSpPr>
        <p:spPr>
          <a:xfrm>
            <a:off x="640080" y="914400"/>
            <a:ext cx="10972800" cy="1188720"/>
          </a:xfrm>
          <a:prstGeom prst="rect">
            <a:avLst/>
          </a:prstGeom>
          <a:noFill/>
        </p:spPr>
        <p:txBody>
          <a:bodyPr wrap="square" anchor="t" lIns="0" rIns="0" tIns="0" bIns="0">
            <a:spAutoFit/>
          </a:bodyPr>
          <a:lstStyle/>
          <a:p>
            <a:pPr algn="l">
              <a:lnSpc>
                <a:spcPct val="100000"/>
              </a:lnSpc>
            </a:pPr>
            <a:r>
              <a:rPr sz="3300" b="1" i="0">
                <a:solidFill>
                  <a:srgbClr val="EAF0FF"/>
                </a:solidFill>
                <a:latin typeface="Arial"/>
              </a:rPr>
              <a:t>Faster, fairer, fraud-resistant procurement</a:t>
            </a:r>
          </a:p>
        </p:txBody>
      </p:sp>
      <p:sp>
        <p:nvSpPr>
          <p:cNvPr id="5" name="Rounded Rectangle 4"/>
          <p:cNvSpPr/>
          <p:nvPr/>
        </p:nvSpPr>
        <p:spPr>
          <a:xfrm>
            <a:off x="640080" y="2057400"/>
            <a:ext cx="2487168"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258568"/>
            <a:ext cx="2029968" cy="548640"/>
          </a:xfrm>
          <a:prstGeom prst="rect">
            <a:avLst/>
          </a:prstGeom>
          <a:noFill/>
        </p:spPr>
        <p:txBody>
          <a:bodyPr wrap="square" anchor="t" lIns="0" rIns="0" tIns="0" bIns="0">
            <a:spAutoFit/>
          </a:bodyPr>
          <a:lstStyle/>
          <a:p>
            <a:pPr algn="l"/>
            <a:r>
              <a:rPr sz="2200" b="1" i="0">
                <a:solidFill>
                  <a:srgbClr val="31C8D6"/>
                </a:solidFill>
                <a:latin typeface="Arial"/>
              </a:rPr>
              <a:t>Minutes</a:t>
            </a:r>
          </a:p>
        </p:txBody>
      </p:sp>
      <p:sp>
        <p:nvSpPr>
          <p:cNvPr id="7" name="TextBox 6"/>
          <p:cNvSpPr txBox="1"/>
          <p:nvPr/>
        </p:nvSpPr>
        <p:spPr>
          <a:xfrm>
            <a:off x="896112" y="2807208"/>
            <a:ext cx="2029968" cy="548640"/>
          </a:xfrm>
          <a:prstGeom prst="rect">
            <a:avLst/>
          </a:prstGeom>
          <a:noFill/>
        </p:spPr>
        <p:txBody>
          <a:bodyPr wrap="square" anchor="t" lIns="0" rIns="0" tIns="0" bIns="0">
            <a:spAutoFit/>
          </a:bodyPr>
          <a:lstStyle/>
          <a:p>
            <a:pPr algn="l">
              <a:lnSpc>
                <a:spcPct val="105000"/>
              </a:lnSpc>
            </a:pPr>
            <a:r>
              <a:rPr sz="1250" b="0" i="0">
                <a:solidFill>
                  <a:srgbClr val="93A1C0"/>
                </a:solidFill>
                <a:latin typeface="Arial"/>
              </a:rPr>
              <a:t>not hours, per bidder</a:t>
            </a:r>
          </a:p>
        </p:txBody>
      </p:sp>
      <p:sp>
        <p:nvSpPr>
          <p:cNvPr id="8" name="Rounded Rectangle 7"/>
          <p:cNvSpPr/>
          <p:nvPr/>
        </p:nvSpPr>
        <p:spPr>
          <a:xfrm>
            <a:off x="3346704" y="2057400"/>
            <a:ext cx="2487168"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2258568"/>
            <a:ext cx="2029968" cy="548640"/>
          </a:xfrm>
          <a:prstGeom prst="rect">
            <a:avLst/>
          </a:prstGeom>
          <a:noFill/>
        </p:spPr>
        <p:txBody>
          <a:bodyPr wrap="square" anchor="t" lIns="0" rIns="0" tIns="0" bIns="0">
            <a:spAutoFit/>
          </a:bodyPr>
          <a:lstStyle/>
          <a:p>
            <a:pPr algn="l"/>
            <a:r>
              <a:rPr sz="2200" b="1" i="0">
                <a:solidFill>
                  <a:srgbClr val="31C8D6"/>
                </a:solidFill>
                <a:latin typeface="Arial"/>
              </a:rPr>
              <a:t>Fraud caught</a:t>
            </a:r>
          </a:p>
        </p:txBody>
      </p:sp>
      <p:sp>
        <p:nvSpPr>
          <p:cNvPr id="10" name="TextBox 9"/>
          <p:cNvSpPr txBox="1"/>
          <p:nvPr/>
        </p:nvSpPr>
        <p:spPr>
          <a:xfrm>
            <a:off x="3602736" y="2807208"/>
            <a:ext cx="2029968" cy="548640"/>
          </a:xfrm>
          <a:prstGeom prst="rect">
            <a:avLst/>
          </a:prstGeom>
          <a:noFill/>
        </p:spPr>
        <p:txBody>
          <a:bodyPr wrap="square" anchor="t" lIns="0" rIns="0" tIns="0" bIns="0">
            <a:spAutoFit/>
          </a:bodyPr>
          <a:lstStyle/>
          <a:p>
            <a:pPr algn="l">
              <a:lnSpc>
                <a:spcPct val="105000"/>
              </a:lnSpc>
            </a:pPr>
            <a:r>
              <a:rPr sz="1250" b="0" i="0">
                <a:solidFill>
                  <a:srgbClr val="93A1C0"/>
                </a:solidFill>
                <a:latin typeface="Arial"/>
              </a:rPr>
              <a:t>before the award, not after</a:t>
            </a:r>
          </a:p>
        </p:txBody>
      </p:sp>
      <p:sp>
        <p:nvSpPr>
          <p:cNvPr id="11" name="Rounded Rectangle 10"/>
          <p:cNvSpPr/>
          <p:nvPr/>
        </p:nvSpPr>
        <p:spPr>
          <a:xfrm>
            <a:off x="640080" y="3694176"/>
            <a:ext cx="2487168"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895344"/>
            <a:ext cx="2029968" cy="548640"/>
          </a:xfrm>
          <a:prstGeom prst="rect">
            <a:avLst/>
          </a:prstGeom>
          <a:noFill/>
        </p:spPr>
        <p:txBody>
          <a:bodyPr wrap="square" anchor="t" lIns="0" rIns="0" tIns="0" bIns="0">
            <a:spAutoFit/>
          </a:bodyPr>
          <a:lstStyle/>
          <a:p>
            <a:pPr algn="l"/>
            <a:r>
              <a:rPr sz="2200" b="1" i="0">
                <a:solidFill>
                  <a:srgbClr val="31C8D6"/>
                </a:solidFill>
                <a:latin typeface="Arial"/>
              </a:rPr>
              <a:t>100%</a:t>
            </a:r>
          </a:p>
        </p:txBody>
      </p:sp>
      <p:sp>
        <p:nvSpPr>
          <p:cNvPr id="13" name="TextBox 12"/>
          <p:cNvSpPr txBox="1"/>
          <p:nvPr/>
        </p:nvSpPr>
        <p:spPr>
          <a:xfrm>
            <a:off x="896112" y="4443984"/>
            <a:ext cx="2029968" cy="548640"/>
          </a:xfrm>
          <a:prstGeom prst="rect">
            <a:avLst/>
          </a:prstGeom>
          <a:noFill/>
        </p:spPr>
        <p:txBody>
          <a:bodyPr wrap="square" anchor="t" lIns="0" rIns="0" tIns="0" bIns="0">
            <a:spAutoFit/>
          </a:bodyPr>
          <a:lstStyle/>
          <a:p>
            <a:pPr algn="l">
              <a:lnSpc>
                <a:spcPct val="105000"/>
              </a:lnSpc>
            </a:pPr>
            <a:r>
              <a:rPr sz="1250" b="0" i="0">
                <a:solidFill>
                  <a:srgbClr val="93A1C0"/>
                </a:solidFill>
                <a:latin typeface="Arial"/>
              </a:rPr>
              <a:t>auditable decisions</a:t>
            </a:r>
          </a:p>
        </p:txBody>
      </p:sp>
      <p:sp>
        <p:nvSpPr>
          <p:cNvPr id="14" name="Rounded Rectangle 13"/>
          <p:cNvSpPr/>
          <p:nvPr/>
        </p:nvSpPr>
        <p:spPr>
          <a:xfrm>
            <a:off x="3346704" y="3694176"/>
            <a:ext cx="2487168" cy="1417320"/>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3895344"/>
            <a:ext cx="2029968" cy="548640"/>
          </a:xfrm>
          <a:prstGeom prst="rect">
            <a:avLst/>
          </a:prstGeom>
          <a:noFill/>
        </p:spPr>
        <p:txBody>
          <a:bodyPr wrap="square" anchor="t" lIns="0" rIns="0" tIns="0" bIns="0">
            <a:spAutoFit/>
          </a:bodyPr>
          <a:lstStyle/>
          <a:p>
            <a:pPr algn="l"/>
            <a:r>
              <a:rPr sz="2200" b="1" i="0">
                <a:solidFill>
                  <a:srgbClr val="31C8D6"/>
                </a:solidFill>
                <a:latin typeface="Arial"/>
              </a:rPr>
              <a:t>Any ministry</a:t>
            </a:r>
          </a:p>
        </p:txBody>
      </p:sp>
      <p:sp>
        <p:nvSpPr>
          <p:cNvPr id="16" name="TextBox 15"/>
          <p:cNvSpPr txBox="1"/>
          <p:nvPr/>
        </p:nvSpPr>
        <p:spPr>
          <a:xfrm>
            <a:off x="3602736" y="4443984"/>
            <a:ext cx="2029968" cy="548640"/>
          </a:xfrm>
          <a:prstGeom prst="rect">
            <a:avLst/>
          </a:prstGeom>
          <a:noFill/>
        </p:spPr>
        <p:txBody>
          <a:bodyPr wrap="square" anchor="t" lIns="0" rIns="0" tIns="0" bIns="0">
            <a:spAutoFit/>
          </a:bodyPr>
          <a:lstStyle/>
          <a:p>
            <a:pPr algn="l">
              <a:lnSpc>
                <a:spcPct val="105000"/>
              </a:lnSpc>
            </a:pPr>
            <a:r>
              <a:rPr sz="1250" b="0" i="0">
                <a:solidFill>
                  <a:srgbClr val="93A1C0"/>
                </a:solidFill>
                <a:latin typeface="Arial"/>
              </a:rPr>
              <a:t>one platform, configurable rules</a:t>
            </a:r>
          </a:p>
        </p:txBody>
      </p:sp>
      <p:sp>
        <p:nvSpPr>
          <p:cNvPr id="17" name="TextBox 16"/>
          <p:cNvSpPr txBox="1"/>
          <p:nvPr/>
        </p:nvSpPr>
        <p:spPr>
          <a:xfrm>
            <a:off x="6263640" y="2011680"/>
            <a:ext cx="5486400" cy="365760"/>
          </a:xfrm>
          <a:prstGeom prst="rect">
            <a:avLst/>
          </a:prstGeom>
          <a:noFill/>
        </p:spPr>
        <p:txBody>
          <a:bodyPr wrap="square" anchor="t" lIns="0" rIns="0" tIns="0" bIns="0">
            <a:spAutoFit/>
          </a:bodyPr>
          <a:lstStyle/>
          <a:p>
            <a:pPr algn="l"/>
            <a:r>
              <a:rPr sz="1500" b="1" i="0">
                <a:solidFill>
                  <a:srgbClr val="31C8D6"/>
                </a:solidFill>
                <a:latin typeface="Arial"/>
              </a:rPr>
              <a:t>Roadmap</a:t>
            </a:r>
          </a:p>
        </p:txBody>
      </p:sp>
      <p:sp>
        <p:nvSpPr>
          <p:cNvPr id="18" name="Oval 17"/>
          <p:cNvSpPr/>
          <p:nvPr/>
        </p:nvSpPr>
        <p:spPr>
          <a:xfrm>
            <a:off x="6263640" y="2514600"/>
            <a:ext cx="274320" cy="274320"/>
          </a:xfrm>
          <a:prstGeom prst="ellipse">
            <a:avLst/>
          </a:prstGeom>
          <a:solidFill>
            <a:srgbClr val="141B2E"/>
          </a:solidFill>
          <a:ln w="19050">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514600"/>
            <a:ext cx="274320" cy="274320"/>
          </a:xfrm>
          <a:prstGeom prst="rect">
            <a:avLst/>
          </a:prstGeom>
          <a:noFill/>
        </p:spPr>
        <p:txBody>
          <a:bodyPr wrap="square" anchor="ctr" lIns="0" rIns="0" tIns="0" bIns="0">
            <a:spAutoFit/>
          </a:bodyPr>
          <a:lstStyle/>
          <a:p>
            <a:pPr algn="ctr"/>
            <a:r>
              <a:rPr sz="1200" b="1" i="0">
                <a:solidFill>
                  <a:srgbClr val="31C8D6"/>
                </a:solidFill>
                <a:latin typeface="Arial"/>
              </a:rPr>
              <a:t>1</a:t>
            </a:r>
          </a:p>
        </p:txBody>
      </p:sp>
      <p:sp>
        <p:nvSpPr>
          <p:cNvPr id="20" name="TextBox 19"/>
          <p:cNvSpPr txBox="1"/>
          <p:nvPr/>
        </p:nvSpPr>
        <p:spPr>
          <a:xfrm>
            <a:off x="6720840" y="2468880"/>
            <a:ext cx="5120640" cy="365760"/>
          </a:xfrm>
          <a:prstGeom prst="rect">
            <a:avLst/>
          </a:prstGeom>
          <a:noFill/>
        </p:spPr>
        <p:txBody>
          <a:bodyPr wrap="square" anchor="t" lIns="0" rIns="0" tIns="0" bIns="0">
            <a:spAutoFit/>
          </a:bodyPr>
          <a:lstStyle/>
          <a:p>
            <a:pPr algn="l"/>
            <a:r>
              <a:rPr sz="1350" b="1" i="0">
                <a:solidFill>
                  <a:srgbClr val="EAF0FF"/>
                </a:solidFill>
                <a:latin typeface="Arial"/>
              </a:rPr>
              <a:t>Live API wiring</a:t>
            </a:r>
          </a:p>
        </p:txBody>
      </p:sp>
      <p:sp>
        <p:nvSpPr>
          <p:cNvPr id="21" name="TextBox 20"/>
          <p:cNvSpPr txBox="1"/>
          <p:nvPr/>
        </p:nvSpPr>
        <p:spPr>
          <a:xfrm>
            <a:off x="6720840" y="2798064"/>
            <a:ext cx="5120640" cy="365760"/>
          </a:xfrm>
          <a:prstGeom prst="rect">
            <a:avLst/>
          </a:prstGeom>
          <a:noFill/>
        </p:spPr>
        <p:txBody>
          <a:bodyPr wrap="square" anchor="t" lIns="0" rIns="0" tIns="0" bIns="0">
            <a:spAutoFit/>
          </a:bodyPr>
          <a:lstStyle/>
          <a:p>
            <a:pPr algn="l"/>
            <a:r>
              <a:rPr sz="1200" b="0" i="0">
                <a:solidFill>
                  <a:srgbClr val="93A1C0"/>
                </a:solidFill>
                <a:latin typeface="Arial"/>
              </a:rPr>
              <a:t>onboard APISetu · GST Suvidha · DigiLocker for a pilot ministry</a:t>
            </a:r>
          </a:p>
        </p:txBody>
      </p:sp>
      <p:sp>
        <p:nvSpPr>
          <p:cNvPr id="22" name="Oval 21"/>
          <p:cNvSpPr/>
          <p:nvPr/>
        </p:nvSpPr>
        <p:spPr>
          <a:xfrm>
            <a:off x="6263640" y="3310128"/>
            <a:ext cx="274320" cy="274320"/>
          </a:xfrm>
          <a:prstGeom prst="ellipse">
            <a:avLst/>
          </a:prstGeom>
          <a:solidFill>
            <a:srgbClr val="141B2E"/>
          </a:solidFill>
          <a:ln w="19050">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3310128"/>
            <a:ext cx="274320" cy="274320"/>
          </a:xfrm>
          <a:prstGeom prst="rect">
            <a:avLst/>
          </a:prstGeom>
          <a:noFill/>
        </p:spPr>
        <p:txBody>
          <a:bodyPr wrap="square" anchor="ctr" lIns="0" rIns="0" tIns="0" bIns="0">
            <a:spAutoFit/>
          </a:bodyPr>
          <a:lstStyle/>
          <a:p>
            <a:pPr algn="ctr"/>
            <a:r>
              <a:rPr sz="1200" b="1" i="0">
                <a:solidFill>
                  <a:srgbClr val="31C8D6"/>
                </a:solidFill>
                <a:latin typeface="Arial"/>
              </a:rPr>
              <a:t>2</a:t>
            </a:r>
          </a:p>
        </p:txBody>
      </p:sp>
      <p:sp>
        <p:nvSpPr>
          <p:cNvPr id="24" name="TextBox 23"/>
          <p:cNvSpPr txBox="1"/>
          <p:nvPr/>
        </p:nvSpPr>
        <p:spPr>
          <a:xfrm>
            <a:off x="6720840" y="3264408"/>
            <a:ext cx="5120640" cy="365760"/>
          </a:xfrm>
          <a:prstGeom prst="rect">
            <a:avLst/>
          </a:prstGeom>
          <a:noFill/>
        </p:spPr>
        <p:txBody>
          <a:bodyPr wrap="square" anchor="t" lIns="0" rIns="0" tIns="0" bIns="0">
            <a:spAutoFit/>
          </a:bodyPr>
          <a:lstStyle/>
          <a:p>
            <a:pPr algn="l"/>
            <a:r>
              <a:rPr sz="1350" b="1" i="0">
                <a:solidFill>
                  <a:srgbClr val="EAF0FF"/>
                </a:solidFill>
                <a:latin typeface="Arial"/>
              </a:rPr>
              <a:t>Scanned-doc OCR at scale</a:t>
            </a:r>
          </a:p>
        </p:txBody>
      </p:sp>
      <p:sp>
        <p:nvSpPr>
          <p:cNvPr id="25" name="TextBox 24"/>
          <p:cNvSpPr txBox="1"/>
          <p:nvPr/>
        </p:nvSpPr>
        <p:spPr>
          <a:xfrm>
            <a:off x="6720840" y="3593592"/>
            <a:ext cx="5120640" cy="365760"/>
          </a:xfrm>
          <a:prstGeom prst="rect">
            <a:avLst/>
          </a:prstGeom>
          <a:noFill/>
        </p:spPr>
        <p:txBody>
          <a:bodyPr wrap="square" anchor="t" lIns="0" rIns="0" tIns="0" bIns="0">
            <a:spAutoFit/>
          </a:bodyPr>
          <a:lstStyle/>
          <a:p>
            <a:pPr algn="l"/>
            <a:r>
              <a:rPr sz="1200" b="0" i="0">
                <a:solidFill>
                  <a:srgbClr val="93A1C0"/>
                </a:solidFill>
                <a:latin typeface="Arial"/>
              </a:rPr>
              <a:t>PaddleOCR for photographed / non-text certificates</a:t>
            </a:r>
          </a:p>
        </p:txBody>
      </p:sp>
      <p:sp>
        <p:nvSpPr>
          <p:cNvPr id="26" name="Oval 25"/>
          <p:cNvSpPr/>
          <p:nvPr/>
        </p:nvSpPr>
        <p:spPr>
          <a:xfrm>
            <a:off x="6263640" y="4105656"/>
            <a:ext cx="274320" cy="274320"/>
          </a:xfrm>
          <a:prstGeom prst="ellipse">
            <a:avLst/>
          </a:prstGeom>
          <a:solidFill>
            <a:srgbClr val="141B2E"/>
          </a:solidFill>
          <a:ln w="19050">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4105656"/>
            <a:ext cx="274320" cy="274320"/>
          </a:xfrm>
          <a:prstGeom prst="rect">
            <a:avLst/>
          </a:prstGeom>
          <a:noFill/>
        </p:spPr>
        <p:txBody>
          <a:bodyPr wrap="square" anchor="ctr" lIns="0" rIns="0" tIns="0" bIns="0">
            <a:spAutoFit/>
          </a:bodyPr>
          <a:lstStyle/>
          <a:p>
            <a:pPr algn="ctr"/>
            <a:r>
              <a:rPr sz="1200" b="1" i="0">
                <a:solidFill>
                  <a:srgbClr val="31C8D6"/>
                </a:solidFill>
                <a:latin typeface="Arial"/>
              </a:rPr>
              <a:t>3</a:t>
            </a:r>
          </a:p>
        </p:txBody>
      </p:sp>
      <p:sp>
        <p:nvSpPr>
          <p:cNvPr id="28" name="TextBox 27"/>
          <p:cNvSpPr txBox="1"/>
          <p:nvPr/>
        </p:nvSpPr>
        <p:spPr>
          <a:xfrm>
            <a:off x="6720840" y="4059936"/>
            <a:ext cx="5120640" cy="365760"/>
          </a:xfrm>
          <a:prstGeom prst="rect">
            <a:avLst/>
          </a:prstGeom>
          <a:noFill/>
        </p:spPr>
        <p:txBody>
          <a:bodyPr wrap="square" anchor="t" lIns="0" rIns="0" tIns="0" bIns="0">
            <a:spAutoFit/>
          </a:bodyPr>
          <a:lstStyle/>
          <a:p>
            <a:pPr algn="l"/>
            <a:r>
              <a:rPr sz="1350" b="1" i="0">
                <a:solidFill>
                  <a:srgbClr val="EAF0FF"/>
                </a:solidFill>
                <a:latin typeface="Arial"/>
              </a:rPr>
              <a:t>Continuous debarment sync</a:t>
            </a:r>
          </a:p>
        </p:txBody>
      </p:sp>
      <p:sp>
        <p:nvSpPr>
          <p:cNvPr id="29" name="TextBox 28"/>
          <p:cNvSpPr txBox="1"/>
          <p:nvPr/>
        </p:nvSpPr>
        <p:spPr>
          <a:xfrm>
            <a:off x="6720840" y="4389120"/>
            <a:ext cx="5120640" cy="365760"/>
          </a:xfrm>
          <a:prstGeom prst="rect">
            <a:avLst/>
          </a:prstGeom>
          <a:noFill/>
        </p:spPr>
        <p:txBody>
          <a:bodyPr wrap="square" anchor="t" lIns="0" rIns="0" tIns="0" bIns="0">
            <a:spAutoFit/>
          </a:bodyPr>
          <a:lstStyle/>
          <a:p>
            <a:pPr algn="l"/>
            <a:r>
              <a:rPr sz="1200" b="0" i="0">
                <a:solidFill>
                  <a:srgbClr val="93A1C0"/>
                </a:solidFill>
                <a:latin typeface="Arial"/>
              </a:rPr>
              <a:t>auto-refresh blacklist and GST-status feeds</a:t>
            </a:r>
          </a:p>
        </p:txBody>
      </p:sp>
      <p:sp>
        <p:nvSpPr>
          <p:cNvPr id="30" name="Oval 29"/>
          <p:cNvSpPr/>
          <p:nvPr/>
        </p:nvSpPr>
        <p:spPr>
          <a:xfrm>
            <a:off x="6263640" y="4901184"/>
            <a:ext cx="274320" cy="274320"/>
          </a:xfrm>
          <a:prstGeom prst="ellipse">
            <a:avLst/>
          </a:prstGeom>
          <a:solidFill>
            <a:srgbClr val="141B2E"/>
          </a:solidFill>
          <a:ln w="19050">
            <a:solidFill>
              <a:srgbClr val="31C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4901184"/>
            <a:ext cx="274320" cy="274320"/>
          </a:xfrm>
          <a:prstGeom prst="rect">
            <a:avLst/>
          </a:prstGeom>
          <a:noFill/>
        </p:spPr>
        <p:txBody>
          <a:bodyPr wrap="square" anchor="ctr" lIns="0" rIns="0" tIns="0" bIns="0">
            <a:spAutoFit/>
          </a:bodyPr>
          <a:lstStyle/>
          <a:p>
            <a:pPr algn="ctr"/>
            <a:r>
              <a:rPr sz="1200" b="1" i="0">
                <a:solidFill>
                  <a:srgbClr val="31C8D6"/>
                </a:solidFill>
                <a:latin typeface="Arial"/>
              </a:rPr>
              <a:t>4</a:t>
            </a:r>
          </a:p>
        </p:txBody>
      </p:sp>
      <p:sp>
        <p:nvSpPr>
          <p:cNvPr id="32" name="TextBox 31"/>
          <p:cNvSpPr txBox="1"/>
          <p:nvPr/>
        </p:nvSpPr>
        <p:spPr>
          <a:xfrm>
            <a:off x="6720840" y="4855464"/>
            <a:ext cx="5120640" cy="365760"/>
          </a:xfrm>
          <a:prstGeom prst="rect">
            <a:avLst/>
          </a:prstGeom>
          <a:noFill/>
        </p:spPr>
        <p:txBody>
          <a:bodyPr wrap="square" anchor="t" lIns="0" rIns="0" tIns="0" bIns="0">
            <a:spAutoFit/>
          </a:bodyPr>
          <a:lstStyle/>
          <a:p>
            <a:pPr algn="l"/>
            <a:r>
              <a:rPr sz="1350" b="1" i="0">
                <a:solidFill>
                  <a:srgbClr val="EAF0FF"/>
                </a:solidFill>
                <a:latin typeface="Arial"/>
              </a:rPr>
              <a:t>Explainable anomaly scoring</a:t>
            </a:r>
          </a:p>
        </p:txBody>
      </p:sp>
      <p:sp>
        <p:nvSpPr>
          <p:cNvPr id="33" name="TextBox 32"/>
          <p:cNvSpPr txBox="1"/>
          <p:nvPr/>
        </p:nvSpPr>
        <p:spPr>
          <a:xfrm>
            <a:off x="6720840" y="5184648"/>
            <a:ext cx="5120640" cy="365760"/>
          </a:xfrm>
          <a:prstGeom prst="rect">
            <a:avLst/>
          </a:prstGeom>
          <a:noFill/>
        </p:spPr>
        <p:txBody>
          <a:bodyPr wrap="square" anchor="t" lIns="0" rIns="0" tIns="0" bIns="0">
            <a:spAutoFit/>
          </a:bodyPr>
          <a:lstStyle/>
          <a:p>
            <a:pPr algn="l"/>
            <a:r>
              <a:rPr sz="1200" b="0" i="0">
                <a:solidFill>
                  <a:srgbClr val="93A1C0"/>
                </a:solidFill>
                <a:latin typeface="Arial"/>
              </a:rPr>
              <a:t>an ML layer on top of the deterministic base</a:t>
            </a:r>
          </a:p>
        </p:txBody>
      </p:sp>
      <p:sp>
        <p:nvSpPr>
          <p:cNvPr id="34" name="TextBox 33"/>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Collusion detection, Make-in-India value-add maths and the signed officer report are already built — the roadmap deepens the moat further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1645920"/>
            <a:ext cx="4937760" cy="4937760"/>
          </a:xfrm>
          <a:prstGeom prst="ellipse">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92640" y="4023360"/>
            <a:ext cx="4572000" cy="4572000"/>
          </a:xfrm>
          <a:prstGeom prst="ellipse">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4754880"/>
            <a:ext cx="640080" cy="640080"/>
          </a:xfrm>
          <a:prstGeom prst="ellipse">
            <a:avLst/>
          </a:prstGeom>
          <a:solidFill>
            <a:srgbClr val="0E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65960"/>
            <a:ext cx="10515600" cy="1097280"/>
          </a:xfrm>
          <a:prstGeom prst="rect">
            <a:avLst/>
          </a:prstGeom>
          <a:noFill/>
        </p:spPr>
        <p:txBody>
          <a:bodyPr wrap="square" anchor="t" lIns="0" rIns="0" tIns="0" bIns="0">
            <a:spAutoFit/>
          </a:bodyPr>
          <a:lstStyle/>
          <a:p>
            <a:pPr algn="l"/>
            <a:r>
              <a:rPr sz="5200" b="1" i="0">
                <a:solidFill>
                  <a:srgbClr val="EAF0FF"/>
                </a:solidFill>
                <a:latin typeface="Arial"/>
              </a:rPr>
              <a:t>Proof, not guesswork.</a:t>
            </a:r>
          </a:p>
        </p:txBody>
      </p:sp>
      <p:sp>
        <p:nvSpPr>
          <p:cNvPr id="7" name="TextBox 6"/>
          <p:cNvSpPr txBox="1"/>
          <p:nvPr/>
        </p:nvSpPr>
        <p:spPr>
          <a:xfrm>
            <a:off x="841248" y="3200400"/>
            <a:ext cx="10515600" cy="914400"/>
          </a:xfrm>
          <a:prstGeom prst="rect">
            <a:avLst/>
          </a:prstGeom>
          <a:noFill/>
        </p:spPr>
        <p:txBody>
          <a:bodyPr wrap="square" anchor="t" lIns="0" rIns="0" tIns="0" bIns="0">
            <a:spAutoFit/>
          </a:bodyPr>
          <a:lstStyle/>
          <a:p>
            <a:pPr algn="l">
              <a:lnSpc>
                <a:spcPct val="115000"/>
              </a:lnSpc>
            </a:pPr>
            <a:r>
              <a:rPr sz="2000" b="1" i="0">
                <a:solidFill>
                  <a:srgbClr val="31C8D6"/>
                </a:solidFill>
                <a:latin typeface="Arial"/>
              </a:rPr>
              <a:t>PRAMAAN</a:t>
            </a:r>
            <a:r>
              <a:rPr sz="2000" b="0" i="0">
                <a:solidFill>
                  <a:srgbClr val="EAF0FF"/>
                </a:solidFill>
                <a:latin typeface="Arial"/>
              </a:rPr>
              <a:t> — AI-assisted, evidence-backed, human-decided bid-compliance verification for GeM.</a:t>
            </a:r>
          </a:p>
        </p:txBody>
      </p:sp>
      <p:sp>
        <p:nvSpPr>
          <p:cNvPr id="8" name="Rounded Rectangle 7"/>
          <p:cNvSpPr/>
          <p:nvPr/>
        </p:nvSpPr>
        <p:spPr>
          <a:xfrm>
            <a:off x="822960" y="4480560"/>
            <a:ext cx="6035040" cy="658368"/>
          </a:xfrm>
          <a:prstGeom prst="roundRect">
            <a:avLst>
              <a:gd name="adj" fmla="val 6000"/>
            </a:avLst>
          </a:prstGeom>
          <a:solidFill>
            <a:srgbClr val="14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4736592"/>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4507992"/>
            <a:ext cx="5303520" cy="603504"/>
          </a:xfrm>
          <a:prstGeom prst="rect">
            <a:avLst/>
          </a:prstGeom>
          <a:noFill/>
        </p:spPr>
        <p:txBody>
          <a:bodyPr wrap="square" anchor="ctr" lIns="0" rIns="0" tIns="0" bIns="0">
            <a:spAutoFit/>
          </a:bodyPr>
          <a:lstStyle/>
          <a:p>
            <a:pPr algn="l"/>
            <a:r>
              <a:rPr sz="1500" b="1" i="0">
                <a:solidFill>
                  <a:srgbClr val="EAF0FF"/>
                </a:solidFill>
                <a:latin typeface="Arial"/>
              </a:rPr>
              <a:t>The AI recommends.  </a:t>
            </a:r>
            <a:r>
              <a:rPr sz="1500" b="1" i="0">
                <a:solidFill>
                  <a:srgbClr val="31C8D6"/>
                </a:solidFill>
                <a:latin typeface="Arial"/>
              </a:rPr>
              <a:t>The officer decides.</a:t>
            </a:r>
          </a:p>
        </p:txBody>
      </p:sp>
      <p:sp>
        <p:nvSpPr>
          <p:cNvPr id="11" name="TextBox 10"/>
          <p:cNvSpPr txBox="1"/>
          <p:nvPr/>
        </p:nvSpPr>
        <p:spPr>
          <a:xfrm>
            <a:off x="822960" y="5806440"/>
            <a:ext cx="10515600" cy="457200"/>
          </a:xfrm>
          <a:prstGeom prst="rect">
            <a:avLst/>
          </a:prstGeom>
          <a:noFill/>
        </p:spPr>
        <p:txBody>
          <a:bodyPr wrap="square" anchor="t" lIns="0" rIns="0" tIns="0" bIns="0">
            <a:spAutoFit/>
          </a:bodyPr>
          <a:lstStyle/>
          <a:p>
            <a:pPr algn="l"/>
            <a:r>
              <a:rPr sz="1600" b="1" i="0">
                <a:solidFill>
                  <a:srgbClr val="EAF0FF"/>
                </a:solidFill>
                <a:latin typeface="Arial"/>
              </a:rPr>
              <a:t>Thank you.  </a:t>
            </a:r>
            <a:r>
              <a:rPr sz="1300" b="0" i="0">
                <a:solidFill>
                  <a:srgbClr val="93A1C0"/>
                </a:solidFill>
                <a:latin typeface="Arial"/>
              </a:rPr>
              <a:t>Smart India Hackathon 2026 · Ministry of Petroleum &amp; Natural Gas / CPCL</a:t>
            </a:r>
          </a:p>
        </p:txBody>
      </p:sp>
      <p:sp>
        <p:nvSpPr>
          <p:cNvPr id="12" name="TextBox 11"/>
          <p:cNvSpPr txBox="1"/>
          <p:nvPr/>
        </p:nvSpPr>
        <p:spPr>
          <a:xfrm>
            <a:off x="640080" y="6455664"/>
            <a:ext cx="10972800" cy="274320"/>
          </a:xfrm>
          <a:prstGeom prst="rect">
            <a:avLst/>
          </a:prstGeom>
          <a:noFill/>
        </p:spPr>
        <p:txBody>
          <a:bodyPr wrap="square" anchor="t" lIns="0" rIns="0" tIns="0" bIns="0">
            <a:spAutoFit/>
          </a:bodyPr>
          <a:lstStyle/>
          <a:p>
            <a:pPr algn="l"/>
            <a:r>
              <a:rPr sz="950" b="0" i="0">
                <a:solidFill>
                  <a:srgbClr val="93A1C0"/>
                </a:solidFill>
                <a:latin typeface="Arial"/>
              </a:rPr>
              <a:t>Add your team name and contact here before presenting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